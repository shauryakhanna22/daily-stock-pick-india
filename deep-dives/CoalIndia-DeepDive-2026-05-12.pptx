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Gross Margin</c:v>
                </c:pt>
              </c:strCache>
            </c:strRef>
          </c:tx>
          <c:spPr>
            <a:solidFill>
              <a:srgbClr val="2D5BE3"/>
            </a:solidFill>
            <a:ln w="31750" cap="flat">
              <a:solidFill>
                <a:srgbClr val="2D5BE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D5BE3"/>
              </a:solidFill>
              <a:ln w="9525" cap="flat">
                <a:solidFill>
                  <a:srgbClr val="2D5BE3"/>
                </a:solidFill>
                <a:prstDash val="solid"/>
                <a:round/>
              </a:ln>
              <a:effectLst/>
            </c:spPr>
          </c:marker>
          <c:cat>
            <c:multiLvlStrRef>
              <c:f>Sheet1!$A$2:$A$5</c:f>
              <c:multiLvlStrCache>
                <c:ptCount val="4"/>
                <c:lvl>
                  <c:pt idx="0">
                    <c:v>FY2023</c:v>
                  </c:pt>
                  <c:pt idx="1">
                    <c:v>FY2024</c:v>
                  </c:pt>
                  <c:pt idx="2">
                    <c:v>FY2025</c:v>
                  </c:pt>
                  <c:pt idx="3">
                    <c:v>FY2026</c:v>
                  </c:pt>
                </c:lvl>
              </c:multiLvlStrCache>
            </c:multiLvlStrRef>
          </c:cat>
          <c:val>
            <c:numRef>
              <c:f>Sheet1!$B$2:$B$5</c:f>
              <c:numCache>
                <c:formatCode>General</c:formatCode>
                <c:ptCount val="4"/>
                <c:pt idx="0">
                  <c:v>82</c:v>
                </c:pt>
                <c:pt idx="1">
                  <c:v>84.5</c:v>
                </c:pt>
                <c:pt idx="2">
                  <c:v>89.3</c:v>
                </c:pt>
                <c:pt idx="3">
                  <c:v>89</c:v>
                </c:pt>
              </c:numCache>
            </c:numRef>
          </c:val>
          <c:smooth val="1"/>
        </c:ser>
        <c:ser>
          <c:idx val="1"/>
          <c:order val="1"/>
          <c:tx>
            <c:strRef>
              <c:f>Sheet1!$C$1</c:f>
              <c:strCache>
                <c:ptCount val="1"/>
                <c:pt idx="0">
                  <c:v>Operating Margin</c:v>
                </c:pt>
              </c:strCache>
            </c:strRef>
          </c:tx>
          <c:spPr>
            <a:solidFill>
              <a:srgbClr val="1C2B5E"/>
            </a:solidFill>
            <a:ln w="31750" cap="flat">
              <a:solidFill>
                <a:srgbClr val="1C2B5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C2B5E"/>
              </a:solidFill>
              <a:ln w="9525" cap="flat">
                <a:solidFill>
                  <a:srgbClr val="1C2B5E"/>
                </a:solidFill>
                <a:prstDash val="solid"/>
                <a:round/>
              </a:ln>
              <a:effectLst/>
            </c:spPr>
          </c:marker>
          <c:cat>
            <c:multiLvlStrRef>
              <c:f>Sheet1!$A$2:$A$5</c:f>
              <c:multiLvlStrCache>
                <c:ptCount val="4"/>
                <c:lvl>
                  <c:pt idx="0">
                    <c:v>FY2023</c:v>
                  </c:pt>
                  <c:pt idx="1">
                    <c:v>FY2024</c:v>
                  </c:pt>
                  <c:pt idx="2">
                    <c:v>FY2025</c:v>
                  </c:pt>
                  <c:pt idx="3">
                    <c:v>FY2026</c:v>
                  </c:pt>
                </c:lvl>
              </c:multiLvlStrCache>
            </c:multiLvlStrRef>
          </c:cat>
          <c:val>
            <c:numRef>
              <c:f>Sheet1!$C$2:$C$5</c:f>
              <c:numCache>
                <c:formatCode>General</c:formatCode>
                <c:ptCount val="4"/>
                <c:pt idx="0">
                  <c:v>29.6</c:v>
                </c:pt>
                <c:pt idx="1">
                  <c:v>32.5</c:v>
                </c:pt>
                <c:pt idx="2">
                  <c:v>22.5</c:v>
                </c:pt>
                <c:pt idx="3">
                  <c:v>18.5</c:v>
                </c:pt>
              </c:numCache>
            </c:numRef>
          </c:val>
          <c:smooth val="1"/>
        </c:ser>
        <c:ser>
          <c:idx val="2"/>
          <c:order val="2"/>
          <c:tx>
            <c:strRef>
              <c:f>Sheet1!$D$1</c:f>
              <c:strCache>
                <c:ptCount val="1"/>
                <c:pt idx="0">
                  <c:v>Net Margin</c:v>
                </c:pt>
              </c:strCache>
            </c:strRef>
          </c:tx>
          <c:spPr>
            <a:solidFill>
              <a:srgbClr val="D4A017"/>
            </a:solidFill>
            <a:ln w="31750" cap="flat">
              <a:solidFill>
                <a:srgbClr val="D4A01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4A017"/>
              </a:solidFill>
              <a:ln w="9525" cap="flat">
                <a:solidFill>
                  <a:srgbClr val="D4A017"/>
                </a:solidFill>
                <a:prstDash val="solid"/>
                <a:round/>
              </a:ln>
              <a:effectLst/>
            </c:spPr>
          </c:marker>
          <c:cat>
            <c:multiLvlStrRef>
              <c:f>Sheet1!$A$2:$A$5</c:f>
              <c:multiLvlStrCache>
                <c:ptCount val="4"/>
                <c:lvl>
                  <c:pt idx="0">
                    <c:v>FY2023</c:v>
                  </c:pt>
                  <c:pt idx="1">
                    <c:v>FY2024</c:v>
                  </c:pt>
                  <c:pt idx="2">
                    <c:v>FY2025</c:v>
                  </c:pt>
                  <c:pt idx="3">
                    <c:v>FY2026</c:v>
                  </c:pt>
                </c:lvl>
              </c:multiLvlStrCache>
            </c:multiLvlStrRef>
          </c:cat>
          <c:val>
            <c:numRef>
              <c:f>Sheet1!$D$2:$D$5</c:f>
              <c:numCache>
                <c:formatCode>General</c:formatCode>
                <c:ptCount val="4"/>
                <c:pt idx="0">
                  <c:v>24.9</c:v>
                </c:pt>
                <c:pt idx="1">
                  <c:v>29.4</c:v>
                </c:pt>
                <c:pt idx="2">
                  <c:v>21</c:v>
                </c:pt>
                <c:pt idx="3">
                  <c:v>18.5</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Free Cash Flow</c:v>
                </c:pt>
              </c:strCache>
            </c:strRef>
          </c:tx>
          <c:spPr>
            <a:solidFill>
              <a:srgbClr val="2D5BE3"/>
            </a:solidFill>
            <a:effectLst/>
          </c:spPr>
          <c:invertIfNegative val="0"/>
          <c:dLbls>
            <c:numFmt formatCode="#,##0" sourceLinked="0"/>
            <c:txPr>
              <a:bodyPr/>
              <a:lstStyle/>
              <a:p>
                <a:pPr>
                  <a:defRPr b="0" i="0" strike="noStrike" sz="800" u="none">
                    <a:solidFill>
                      <a:srgbClr val="0F172A"/>
                    </a:solidFill>
                    <a:latin typeface="Arial"/>
                  </a:defRPr>
                </a:pPr>
              </a:p>
            </c:txPr>
            <c:showLegendKey val="0"/>
            <c:showVal val="1"/>
            <c:showCatName val="0"/>
            <c:showSerName val="0"/>
            <c:showPercent val="0"/>
            <c:showBubbleSize val="0"/>
            <c:showLeaderLines val="0"/>
          </c:dLbls>
          <c:cat>
            <c:multiLvlStrRef>
              <c:f>Sheet1!$A$2:$A$5</c:f>
              <c:multiLvlStrCache>
                <c:ptCount val="4"/>
                <c:lvl>
                  <c:pt idx="0">
                    <c:v>FY2023</c:v>
                  </c:pt>
                  <c:pt idx="1">
                    <c:v>FY2024</c:v>
                  </c:pt>
                  <c:pt idx="2">
                    <c:v>FY2025</c:v>
                  </c:pt>
                  <c:pt idx="3">
                    <c:v>FY2026</c:v>
                  </c:pt>
                </c:lvl>
              </c:multiLvlStrCache>
            </c:multiLvlStrRef>
          </c:cat>
          <c:val>
            <c:numRef>
              <c:f>Sheet1!$B$2:$B$5</c:f>
              <c:numCache>
                <c:formatCode>General</c:formatCode>
                <c:ptCount val="4"/>
                <c:pt idx="0">
                  <c:v>204</c:v>
                </c:pt>
                <c:pt idx="1">
                  <c:v>13</c:v>
                </c:pt>
                <c:pt idx="2">
                  <c:v>159</c:v>
                </c:pt>
                <c:pt idx="3">
                  <c:v>307</c:v>
                </c:pt>
              </c:numCache>
            </c:numRef>
          </c:val>
        </c:ser>
        <c:ser>
          <c:idx val="1"/>
          <c:order val="1"/>
          <c:tx>
            <c:strRef>
              <c:f>Sheet1!$C$1</c:f>
              <c:strCache>
                <c:ptCount val="1"/>
                <c:pt idx="0">
                  <c:v>Net Income</c:v>
                </c:pt>
              </c:strCache>
            </c:strRef>
          </c:tx>
          <c:spPr>
            <a:solidFill>
              <a:srgbClr val="D6E4FF"/>
            </a:solidFill>
            <a:effectLst/>
          </c:spPr>
          <c:invertIfNegative val="0"/>
          <c:dLbls>
            <c:numFmt formatCode="#,##0" sourceLinked="0"/>
            <c:txPr>
              <a:bodyPr/>
              <a:lstStyle/>
              <a:p>
                <a:pPr>
                  <a:defRPr b="0" i="0" strike="noStrike" sz="800" u="none">
                    <a:solidFill>
                      <a:srgbClr val="0F172A"/>
                    </a:solidFill>
                    <a:latin typeface="Arial"/>
                  </a:defRPr>
                </a:pPr>
              </a:p>
            </c:txPr>
            <c:showLegendKey val="0"/>
            <c:showVal val="1"/>
            <c:showCatName val="0"/>
            <c:showSerName val="0"/>
            <c:showPercent val="0"/>
            <c:showBubbleSize val="0"/>
            <c:showLeaderLines val="0"/>
          </c:dLbls>
          <c:cat>
            <c:multiLvlStrRef>
              <c:f>Sheet1!$A$2:$A$5</c:f>
              <c:multiLvlStrCache>
                <c:ptCount val="4"/>
                <c:lvl>
                  <c:pt idx="0">
                    <c:v>FY2023</c:v>
                  </c:pt>
                  <c:pt idx="1">
                    <c:v>FY2024</c:v>
                  </c:pt>
                  <c:pt idx="2">
                    <c:v>FY2025</c:v>
                  </c:pt>
                  <c:pt idx="3">
                    <c:v>FY2026</c:v>
                  </c:pt>
                </c:lvl>
              </c:multiLvlStrCache>
            </c:multiLvlStrRef>
          </c:cat>
          <c:val>
            <c:numRef>
              <c:f>Sheet1!$C$2:$C$5</c:f>
              <c:numCache>
                <c:formatCode>General</c:formatCode>
                <c:ptCount val="4"/>
                <c:pt idx="0">
                  <c:v>318</c:v>
                </c:pt>
                <c:pt idx="1">
                  <c:v>374</c:v>
                </c:pt>
                <c:pt idx="2">
                  <c:v>355</c:v>
                </c:pt>
                <c:pt idx="3">
                  <c:v>311</c:v>
                </c:pt>
              </c:numCache>
            </c:numRef>
          </c:val>
        </c:ser>
        <c:dLbls>
          <c:numFmt formatCode="#,##0" sourceLinked="0"/>
          <c:txPr>
            <a:bodyPr/>
            <a:lstStyle/>
            <a:p>
              <a:pPr>
                <a:defRPr b="0" i="0" strike="noStrike" sz="800" u="none">
                  <a:solidFill>
                    <a:srgbClr val="0F17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Implied Price (INR)</c:v>
                </c:pt>
              </c:strCache>
            </c:strRef>
          </c:tx>
          <c:spPr>
            <a:solidFill>
              <a:srgbClr val="DC2626"/>
            </a:solidFill>
            <a:effectLst/>
          </c:spPr>
          <c:invertIfNegative val="0"/>
          <c:dLbls>
            <c:numFmt formatCode="#,##0" sourceLinked="0"/>
            <c:txPr>
              <a:bodyPr/>
              <a:lstStyle/>
              <a:p>
                <a:pPr>
                  <a:defRPr b="0" i="0" strike="noStrike" sz="900" u="none">
                    <a:solidFill>
                      <a:srgbClr val="0F172A"/>
                    </a:solidFill>
                    <a:latin typeface="Arial"/>
                  </a:defRPr>
                </a:pPr>
              </a:p>
            </c:txPr>
            <c:showLegendKey val="0"/>
            <c:showVal val="1"/>
            <c:showCatName val="0"/>
            <c:showSerName val="0"/>
            <c:showPercent val="0"/>
            <c:showBubbleSize val="0"/>
            <c:showLeaderLines val="0"/>
          </c:dLbls>
          <c:dPt>
            <c:idx val="0"/>
            <c:invertIfNegative val="0"/>
            <c:bubble3D val="0"/>
            <c:spPr>
              <a:solidFill>
                <a:srgbClr val="DC2626"/>
              </a:solidFill>
              <a:effectLst/>
            </c:spPr>
          </c:dPt>
          <c:dPt>
            <c:idx val="1"/>
            <c:invertIfNegative val="0"/>
            <c:bubble3D val="0"/>
            <c:spPr>
              <a:solidFill>
                <a:srgbClr val="D97706"/>
              </a:solidFill>
              <a:effectLst/>
            </c:spPr>
          </c:dPt>
          <c:dPt>
            <c:idx val="2"/>
            <c:invertIfNegative val="0"/>
            <c:bubble3D val="0"/>
            <c:spPr>
              <a:solidFill>
                <a:srgbClr val="059669"/>
              </a:solidFill>
              <a:effectLst/>
            </c:spPr>
          </c:dPt>
          <c:cat>
            <c:multiLvlStrRef>
              <c:f>Sheet1!$A$2:$A$4</c:f>
              <c:multiLvlStrCache>
                <c:ptCount val="3"/>
                <c:lvl>
                  <c:pt idx="0">
                    <c:v>Bear
(-2% CAGR)</c:v>
                  </c:pt>
                  <c:pt idx="1">
                    <c:v>Base
(+5% CAGR)</c:v>
                  </c:pt>
                  <c:pt idx="2">
                    <c:v>Bull
(+10% CAGR)</c:v>
                  </c:pt>
                </c:lvl>
              </c:multiLvlStrCache>
            </c:multiLvlStrRef>
          </c:cat>
          <c:val>
            <c:numRef>
              <c:f>Sheet1!$B$2:$B$4</c:f>
              <c:numCache>
                <c:formatCode>General</c:formatCode>
                <c:ptCount val="3"/>
                <c:pt idx="0">
                  <c:v>388</c:v>
                </c:pt>
                <c:pt idx="1">
                  <c:v>685</c:v>
                </c:pt>
                <c:pt idx="2">
                  <c:v>1061</c:v>
                </c:pt>
              </c:numCache>
            </c:numRef>
          </c:val>
        </c:ser>
        <c:dLbls>
          <c:numFmt formatCode="#,##0" sourceLinked="0"/>
          <c:txPr>
            <a:bodyPr/>
            <a:lstStyle/>
            <a:p>
              <a:pPr>
                <a:defRPr b="0" i="0" strike="noStrike" sz="900" u="none">
                  <a:solidFill>
                    <a:srgbClr val="0F17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Ratings</c:v>
                </c:pt>
              </c:strCache>
            </c:strRef>
          </c:tx>
          <c:spPr>
            <a:solidFill>
              <a:schemeClr val="accent1"/>
            </a:solidFill>
            <a:ln w="9525" cap="flat">
              <a:solidFill>
                <a:srgbClr val="F9F9F9"/>
              </a:solidFill>
              <a:prstDash val="solid"/>
              <a:round/>
            </a:ln>
            <a:effectLst/>
          </c:spPr>
          <c:dPt>
            <c:idx val="0"/>
            <c:bubble3D val="0"/>
            <c:spPr>
              <a:solidFill>
                <a:srgbClr val="059669"/>
              </a:solidFill>
              <a:effectLst/>
            </c:spPr>
          </c:dPt>
          <c:dPt>
            <c:idx val="1"/>
            <c:bubble3D val="0"/>
            <c:spPr>
              <a:solidFill>
                <a:srgbClr val="34D399"/>
              </a:solidFill>
              <a:effectLst/>
            </c:spPr>
          </c:dPt>
          <c:dPt>
            <c:idx val="2"/>
            <c:bubble3D val="0"/>
            <c:spPr>
              <a:solidFill>
                <a:srgbClr val="D97706"/>
              </a:solidFill>
              <a:effectLst/>
            </c:spPr>
          </c:dPt>
          <c:dPt>
            <c:idx val="3"/>
            <c:bubble3D val="0"/>
            <c:spPr>
              <a:solidFill>
                <a:srgbClr val="F87171"/>
              </a:solidFill>
              <a:effectLst/>
            </c:spPr>
          </c:dPt>
          <c:dPt>
            <c:idx val="4"/>
            <c:bubble3D val="0"/>
            <c:spPr>
              <a:solidFill>
                <a:srgbClr val="DC2626"/>
              </a:solidFill>
              <a:effectLst/>
            </c:spPr>
          </c:dPt>
          <c:dLbls>
            <c:dLbl>
              <c:idx val="0"/>
              <c:numFmt formatCode="0%" sourceLinked="0"/>
              <c:spPr/>
              <c:txPr>
                <a:bodyPr/>
                <a:lstStyle/>
                <a:p>
                  <a:pPr>
                    <a:defRPr sz="10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0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000" b="0"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000" b="0" i="0" u="none" strike="noStrike">
                      <a:solidFill>
                        <a:srgbClr val="FFFFFF"/>
                      </a:solidFill>
                      <a:latin typeface="Arial"/>
                    </a:defRPr>
                  </a:pPr>
                </a:p>
              </c:txPr>
              <c:showLegendKey val="0"/>
              <c:showVal val="0"/>
              <c:showCatName val="0"/>
              <c:showSerName val="0"/>
              <c:showPercent val="1"/>
              <c:showBubbleSize val="0"/>
            </c:dLbl>
            <c:dLbl>
              <c:idx val="4"/>
              <c:numFmt formatCode="0%" sourceLinked="0"/>
              <c:spPr/>
              <c:txPr>
                <a:bodyPr/>
                <a:lstStyle/>
                <a:p>
                  <a:pPr>
                    <a:defRPr sz="10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Strong Buy</c:v>
                </c:pt>
                <c:pt idx="1">
                  <c:v>Buy</c:v>
                </c:pt>
                <c:pt idx="2">
                  <c:v>Hold</c:v>
                </c:pt>
                <c:pt idx="3">
                  <c:v>Sell</c:v>
                </c:pt>
                <c:pt idx="4">
                  <c:v>Strong Sell</c:v>
                </c:pt>
              </c:strCache>
            </c:strRef>
          </c:cat>
          <c:val>
            <c:numRef>
              <c:f>Sheet1!$B$2:$B$6</c:f>
              <c:numCache>
                <c:ptCount val="5"/>
                <c:pt idx="0">
                  <c:v>12</c:v>
                </c:pt>
                <c:pt idx="1">
                  <c:v>27</c:v>
                </c:pt>
                <c:pt idx="2">
                  <c:v>35</c:v>
                </c:pt>
                <c:pt idx="3">
                  <c:v>12</c:v>
                </c:pt>
                <c:pt idx="4">
                  <c:v>12</c:v>
                </c:pt>
              </c:numCache>
            </c:numRef>
          </c:val>
        </c:ser>
        <c:firstSliceAng val="0"/>
        <c:holeSize val="55"/>
      </c:doughnutChart>
      <c:spPr>
        <a:noFill/>
        <a:ln>
          <a:noFill/>
        </a:ln>
        <a:effectLst/>
      </c:spPr>
    </c:plotArea>
    <c:legend>
      <c:legendPos val="b"/>
      <c:overlay val="0"/>
      <c:txPr>
        <a:bodyPr/>
        <a:lstStyle/>
        <a:p>
          <a:pPr>
            <a:defRPr sz="900">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A3E"/>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D97706"/>
          </a:solidFill>
          <a:ln/>
        </p:spPr>
      </p:sp>
      <p:sp>
        <p:nvSpPr>
          <p:cNvPr id="3" name="Text 1"/>
          <p:cNvSpPr/>
          <p:nvPr/>
        </p:nvSpPr>
        <p:spPr>
          <a:xfrm>
            <a:off x="502920" y="685800"/>
            <a:ext cx="7772400" cy="914400"/>
          </a:xfrm>
          <a:prstGeom prst="rect">
            <a:avLst/>
          </a:prstGeom>
          <a:noFill/>
          <a:ln/>
        </p:spPr>
        <p:txBody>
          <a:bodyPr wrap="square" lIns="0" tIns="0" rIns="0" bIns="0" rtlCol="0" anchor="ctr"/>
          <a:lstStyle/>
          <a:p>
            <a:pPr indent="0" marL="0">
              <a:buNone/>
            </a:pPr>
            <a:r>
              <a:rPr lang="en-US" sz="6400" b="1" dirty="0">
                <a:solidFill>
                  <a:srgbClr val="FFFFFF"/>
                </a:solidFill>
                <a:latin typeface="Calibri" pitchFamily="34" charset="0"/>
                <a:ea typeface="Calibri" pitchFamily="34" charset="-122"/>
                <a:cs typeface="Calibri" pitchFamily="34" charset="-120"/>
              </a:rPr>
              <a:t>COALINDIA</a:t>
            </a:r>
            <a:endParaRPr lang="en-US" sz="6400" dirty="0"/>
          </a:p>
        </p:txBody>
      </p:sp>
      <p:sp>
        <p:nvSpPr>
          <p:cNvPr id="4" name="Text 2"/>
          <p:cNvSpPr/>
          <p:nvPr/>
        </p:nvSpPr>
        <p:spPr>
          <a:xfrm>
            <a:off x="502920" y="1554480"/>
            <a:ext cx="7772400" cy="411480"/>
          </a:xfrm>
          <a:prstGeom prst="rect">
            <a:avLst/>
          </a:prstGeom>
          <a:noFill/>
          <a:ln/>
        </p:spPr>
        <p:txBody>
          <a:bodyPr wrap="square" lIns="0" tIns="0" rIns="0" bIns="0" rtlCol="0" anchor="ctr"/>
          <a:lstStyle/>
          <a:p>
            <a:pPr indent="0" marL="0">
              <a:buNone/>
            </a:pPr>
            <a:r>
              <a:rPr lang="en-US" sz="2200" dirty="0">
                <a:solidFill>
                  <a:srgbClr val="D6E4FF"/>
                </a:solidFill>
                <a:latin typeface="Calibri" pitchFamily="34" charset="0"/>
                <a:ea typeface="Calibri" pitchFamily="34" charset="-122"/>
                <a:cs typeface="Calibri" pitchFamily="34" charset="-120"/>
              </a:rPr>
              <a:t>Coal India Limited</a:t>
            </a:r>
            <a:endParaRPr lang="en-US" sz="2200" dirty="0"/>
          </a:p>
        </p:txBody>
      </p:sp>
      <p:sp>
        <p:nvSpPr>
          <p:cNvPr id="5" name="Shape 3"/>
          <p:cNvSpPr/>
          <p:nvPr/>
        </p:nvSpPr>
        <p:spPr>
          <a:xfrm>
            <a:off x="502920" y="2084832"/>
            <a:ext cx="5029200" cy="27432"/>
          </a:xfrm>
          <a:prstGeom prst="rect">
            <a:avLst/>
          </a:prstGeom>
          <a:solidFill>
            <a:srgbClr val="D97706"/>
          </a:solidFill>
          <a:ln/>
        </p:spPr>
      </p:sp>
      <p:sp>
        <p:nvSpPr>
          <p:cNvPr id="6" name="Text 4"/>
          <p:cNvSpPr/>
          <p:nvPr/>
        </p:nvSpPr>
        <p:spPr>
          <a:xfrm>
            <a:off x="502920" y="2212848"/>
            <a:ext cx="7772400" cy="256032"/>
          </a:xfrm>
          <a:prstGeom prst="rect">
            <a:avLst/>
          </a:prstGeom>
          <a:noFill/>
          <a:ln/>
        </p:spPr>
        <p:txBody>
          <a:bodyPr wrap="square" lIns="0" tIns="0" rIns="0" bIns="0" rtlCol="0" anchor="ctr"/>
          <a:lstStyle/>
          <a:p>
            <a:pPr indent="0" marL="0">
              <a:buNone/>
            </a:pPr>
            <a:r>
              <a:rPr lang="en-US" sz="1100" dirty="0">
                <a:solidFill>
                  <a:srgbClr val="D6E4FF"/>
                </a:solidFill>
                <a:latin typeface="Calibri" pitchFamily="34" charset="0"/>
                <a:ea typeface="Calibri" pitchFamily="34" charset="-122"/>
                <a:cs typeface="Calibri" pitchFamily="34" charset="-120"/>
              </a:rPr>
              <a:t>NSE  ·  Energy / Mining  ·  Large Cap  ·  INR 2,874B</a:t>
            </a:r>
            <a:endParaRPr lang="en-US" sz="1100" dirty="0"/>
          </a:p>
        </p:txBody>
      </p:sp>
      <p:sp>
        <p:nvSpPr>
          <p:cNvPr id="7" name="Text 5"/>
          <p:cNvSpPr/>
          <p:nvPr/>
        </p:nvSpPr>
        <p:spPr>
          <a:xfrm>
            <a:off x="502920" y="2633472"/>
            <a:ext cx="5486400" cy="237744"/>
          </a:xfrm>
          <a:prstGeom prst="rect">
            <a:avLst/>
          </a:prstGeom>
          <a:noFill/>
          <a:ln/>
        </p:spPr>
        <p:txBody>
          <a:bodyPr wrap="square" lIns="0" tIns="0" rIns="0" bIns="0" rtlCol="0" anchor="ctr"/>
          <a:lstStyle/>
          <a:p>
            <a:pPr indent="0" marL="0">
              <a:buNone/>
            </a:pPr>
            <a:r>
              <a:rPr lang="en-US" sz="1050" b="1" spc="400" kern="0" dirty="0">
                <a:solidFill>
                  <a:srgbClr val="D97706"/>
                </a:solidFill>
                <a:latin typeface="Calibri" pitchFamily="34" charset="0"/>
                <a:ea typeface="Calibri" pitchFamily="34" charset="-122"/>
                <a:cs typeface="Calibri" pitchFamily="34" charset="-120"/>
              </a:rPr>
              <a:t>INVESTMENT DEEP DIVE</a:t>
            </a:r>
            <a:endParaRPr lang="en-US" sz="1050" dirty="0"/>
          </a:p>
        </p:txBody>
      </p:sp>
      <p:sp>
        <p:nvSpPr>
          <p:cNvPr id="8" name="Text 6"/>
          <p:cNvSpPr/>
          <p:nvPr/>
        </p:nvSpPr>
        <p:spPr>
          <a:xfrm>
            <a:off x="502920" y="2944368"/>
            <a:ext cx="5486400" cy="219456"/>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Prepared: May 12, 2026</a:t>
            </a:r>
            <a:endParaRPr lang="en-US" sz="1000" dirty="0"/>
          </a:p>
        </p:txBody>
      </p:sp>
      <p:sp>
        <p:nvSpPr>
          <p:cNvPr id="9" name="Text 7"/>
          <p:cNvSpPr/>
          <p:nvPr/>
        </p:nvSpPr>
        <p:spPr>
          <a:xfrm>
            <a:off x="502920" y="3337560"/>
            <a:ext cx="8229600" cy="201168"/>
          </a:xfrm>
          <a:prstGeom prst="rect">
            <a:avLst/>
          </a:prstGeom>
          <a:noFill/>
          <a:ln/>
        </p:spPr>
        <p:txBody>
          <a:bodyPr wrap="square" lIns="0" tIns="0" rIns="0" bIns="0" rtlCol="0" anchor="ctr"/>
          <a:lstStyle/>
          <a:p>
            <a:pPr indent="0" marL="0">
              <a:buNone/>
            </a:pPr>
            <a:r>
              <a:rPr lang="en-US" sz="950" i="1" dirty="0">
                <a:solidFill>
                  <a:srgbClr val="8899BB"/>
                </a:solidFill>
                <a:latin typeface="Calibri" pitchFamily="34" charset="0"/>
                <a:ea typeface="Calibri" pitchFamily="34" charset="-122"/>
                <a:cs typeface="Calibri" pitchFamily="34" charset="-120"/>
              </a:rPr>
              <a:t>World's Largest Coal Producer  ·  Maharatna PSU  ·  Ministry of Coal, Government of India</a:t>
            </a:r>
            <a:endParaRPr lang="en-US" sz="950" dirty="0"/>
          </a:p>
        </p:txBody>
      </p:sp>
      <p:sp>
        <p:nvSpPr>
          <p:cNvPr id="10" name="Text 8"/>
          <p:cNvSpPr/>
          <p:nvPr/>
        </p:nvSpPr>
        <p:spPr>
          <a:xfrm>
            <a:off x="502920" y="4754880"/>
            <a:ext cx="8229600" cy="182880"/>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For Long-Term Investment Purposes Only · Not Financial Advice</a:t>
            </a:r>
            <a:endParaRPr lang="en-US" sz="800" dirty="0"/>
          </a:p>
        </p:txBody>
      </p:sp>
      <p:sp>
        <p:nvSpPr>
          <p:cNvPr id="11" name="Shape 9"/>
          <p:cNvSpPr/>
          <p:nvPr/>
        </p:nvSpPr>
        <p:spPr>
          <a:xfrm>
            <a:off x="6858000" y="1737360"/>
            <a:ext cx="2011680" cy="1463040"/>
          </a:xfrm>
          <a:prstGeom prst="rect">
            <a:avLst/>
          </a:prstGeom>
          <a:solidFill>
            <a:srgbClr val="1C2B5E"/>
          </a:solidFill>
          <a:ln w="19050">
            <a:solidFill>
              <a:srgbClr val="D97706"/>
            </a:solidFill>
            <a:prstDash val="solid"/>
          </a:ln>
        </p:spPr>
      </p:sp>
      <p:sp>
        <p:nvSpPr>
          <p:cNvPr id="12" name="Text 10"/>
          <p:cNvSpPr/>
          <p:nvPr/>
        </p:nvSpPr>
        <p:spPr>
          <a:xfrm>
            <a:off x="6903720" y="1847088"/>
            <a:ext cx="1920240" cy="182880"/>
          </a:xfrm>
          <a:prstGeom prst="rect">
            <a:avLst/>
          </a:prstGeom>
          <a:noFill/>
          <a:ln/>
        </p:spPr>
        <p:txBody>
          <a:bodyPr wrap="square" lIns="0" tIns="0" rIns="0" bIns="0" rtlCol="0" anchor="ctr"/>
          <a:lstStyle/>
          <a:p>
            <a:pPr algn="ctr" indent="0" marL="0">
              <a:buNone/>
            </a:pPr>
            <a:r>
              <a:rPr lang="en-US" sz="750" b="1" spc="200" kern="0" dirty="0">
                <a:solidFill>
                  <a:srgbClr val="D97706"/>
                </a:solidFill>
                <a:latin typeface="Calibri" pitchFamily="34" charset="0"/>
                <a:ea typeface="Calibri" pitchFamily="34" charset="-122"/>
                <a:cs typeface="Calibri" pitchFamily="34" charset="-120"/>
              </a:rPr>
              <a:t>PRICE (NSE)</a:t>
            </a:r>
            <a:endParaRPr lang="en-US" sz="750" dirty="0"/>
          </a:p>
        </p:txBody>
      </p:sp>
      <p:sp>
        <p:nvSpPr>
          <p:cNvPr id="13" name="Text 11"/>
          <p:cNvSpPr/>
          <p:nvPr/>
        </p:nvSpPr>
        <p:spPr>
          <a:xfrm>
            <a:off x="6903720" y="2029968"/>
            <a:ext cx="1920240" cy="5029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INR 466</a:t>
            </a:r>
            <a:endParaRPr lang="en-US" sz="2800" dirty="0"/>
          </a:p>
        </p:txBody>
      </p:sp>
      <p:sp>
        <p:nvSpPr>
          <p:cNvPr id="14" name="Text 12"/>
          <p:cNvSpPr/>
          <p:nvPr/>
        </p:nvSpPr>
        <p:spPr>
          <a:xfrm>
            <a:off x="6903720" y="2523744"/>
            <a:ext cx="1920240" cy="201168"/>
          </a:xfrm>
          <a:prstGeom prst="rect">
            <a:avLst/>
          </a:prstGeom>
          <a:noFill/>
          <a:ln/>
        </p:spPr>
        <p:txBody>
          <a:bodyPr wrap="square" lIns="0" tIns="0" rIns="0" bIns="0" rtlCol="0" anchor="ctr"/>
          <a:lstStyle/>
          <a:p>
            <a:pPr algn="ctr" indent="0" marL="0">
              <a:buNone/>
            </a:pPr>
            <a:r>
              <a:rPr lang="en-US" sz="1100" dirty="0">
                <a:solidFill>
                  <a:srgbClr val="D6E4FF"/>
                </a:solidFill>
                <a:latin typeface="Calibri" pitchFamily="34" charset="0"/>
                <a:ea typeface="Calibri" pitchFamily="34" charset="-122"/>
                <a:cs typeface="Calibri" pitchFamily="34" charset="-120"/>
              </a:rPr>
              <a:t>P/E: 9.2x</a:t>
            </a:r>
            <a:endParaRPr lang="en-US" sz="1100" dirty="0"/>
          </a:p>
        </p:txBody>
      </p:sp>
      <p:sp>
        <p:nvSpPr>
          <p:cNvPr id="15" name="Text 13"/>
          <p:cNvSpPr/>
          <p:nvPr/>
        </p:nvSpPr>
        <p:spPr>
          <a:xfrm>
            <a:off x="6903720" y="2724912"/>
            <a:ext cx="1920240" cy="201168"/>
          </a:xfrm>
          <a:prstGeom prst="rect">
            <a:avLst/>
          </a:prstGeom>
          <a:noFill/>
          <a:ln/>
        </p:spPr>
        <p:txBody>
          <a:bodyPr wrap="square" lIns="0" tIns="0" rIns="0" bIns="0" rtlCol="0" anchor="ctr"/>
          <a:lstStyle/>
          <a:p>
            <a:pPr algn="ctr" indent="0" marL="0">
              <a:buNone/>
            </a:pPr>
            <a:r>
              <a:rPr lang="en-US" sz="1100" b="1" dirty="0">
                <a:solidFill>
                  <a:srgbClr val="D97706"/>
                </a:solidFill>
                <a:latin typeface="Calibri" pitchFamily="34" charset="0"/>
                <a:ea typeface="Calibri" pitchFamily="34" charset="-122"/>
                <a:cs typeface="Calibri" pitchFamily="34" charset="-120"/>
              </a:rPr>
              <a:t>Yield: 5.7%</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A3E"/>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D97706"/>
          </a:solidFill>
          <a:ln/>
        </p:spPr>
      </p:sp>
      <p:sp>
        <p:nvSpPr>
          <p:cNvPr id="3" name="Text 1"/>
          <p:cNvSpPr/>
          <p:nvPr/>
        </p:nvSpPr>
        <p:spPr>
          <a:xfrm>
            <a:off x="502920" y="292608"/>
            <a:ext cx="8229600" cy="256032"/>
          </a:xfrm>
          <a:prstGeom prst="rect">
            <a:avLst/>
          </a:prstGeom>
          <a:noFill/>
          <a:ln/>
        </p:spPr>
        <p:txBody>
          <a:bodyPr wrap="square" lIns="0" tIns="0" rIns="0" bIns="0" rtlCol="0" anchor="ctr"/>
          <a:lstStyle/>
          <a:p>
            <a:pPr indent="0" marL="0">
              <a:buNone/>
            </a:pPr>
            <a:r>
              <a:rPr lang="en-US" sz="1050" b="1" spc="400" kern="0" dirty="0">
                <a:solidFill>
                  <a:srgbClr val="D97706"/>
                </a:solidFill>
                <a:latin typeface="Calibri" pitchFamily="34" charset="0"/>
                <a:ea typeface="Calibri" pitchFamily="34" charset="-122"/>
                <a:cs typeface="Calibri" pitchFamily="34" charset="-120"/>
              </a:rPr>
              <a:t>INVESTMENT VERDICT</a:t>
            </a:r>
            <a:endParaRPr lang="en-US" sz="1050" dirty="0"/>
          </a:p>
        </p:txBody>
      </p:sp>
      <p:sp>
        <p:nvSpPr>
          <p:cNvPr id="4" name="Text 2"/>
          <p:cNvSpPr/>
          <p:nvPr/>
        </p:nvSpPr>
        <p:spPr>
          <a:xfrm>
            <a:off x="502920" y="594360"/>
            <a:ext cx="4572000" cy="1188720"/>
          </a:xfrm>
          <a:prstGeom prst="rect">
            <a:avLst/>
          </a:prstGeom>
          <a:noFill/>
          <a:ln/>
        </p:spPr>
        <p:txBody>
          <a:bodyPr wrap="square" lIns="0" tIns="0" rIns="0" bIns="0" rtlCol="0" anchor="ctr"/>
          <a:lstStyle/>
          <a:p>
            <a:pPr indent="0" marL="0">
              <a:buNone/>
            </a:pPr>
            <a:r>
              <a:rPr lang="en-US" sz="8600" b="1" dirty="0">
                <a:solidFill>
                  <a:srgbClr val="FFFFFF"/>
                </a:solidFill>
                <a:latin typeface="Calibri" pitchFamily="34" charset="0"/>
                <a:ea typeface="Calibri" pitchFamily="34" charset="-122"/>
                <a:cs typeface="Calibri" pitchFamily="34" charset="-120"/>
              </a:rPr>
              <a:t>WATCH</a:t>
            </a:r>
            <a:endParaRPr lang="en-US" sz="8600" dirty="0"/>
          </a:p>
        </p:txBody>
      </p:sp>
      <p:sp>
        <p:nvSpPr>
          <p:cNvPr id="5" name="Shape 3"/>
          <p:cNvSpPr/>
          <p:nvPr/>
        </p:nvSpPr>
        <p:spPr>
          <a:xfrm>
            <a:off x="502920" y="1920240"/>
            <a:ext cx="8321040" cy="1508760"/>
          </a:xfrm>
          <a:prstGeom prst="rect">
            <a:avLst/>
          </a:prstGeom>
          <a:solidFill>
            <a:srgbClr val="1C2B5E"/>
          </a:solidFill>
          <a:ln w="19050">
            <a:solidFill>
              <a:srgbClr val="D97706"/>
            </a:solidFill>
            <a:prstDash val="solid"/>
          </a:ln>
        </p:spPr>
      </p:sp>
      <p:sp>
        <p:nvSpPr>
          <p:cNvPr id="6" name="Text 4"/>
          <p:cNvSpPr/>
          <p:nvPr/>
        </p:nvSpPr>
        <p:spPr>
          <a:xfrm>
            <a:off x="713232" y="2048256"/>
            <a:ext cx="7909560" cy="1261872"/>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Coal India is the world's largest coal miner — a government-backed monopoly with 35% ROCE, zero debt, and a 5.7% dividend yield trading at just 9x earnings. The valuation is cheap. But the energy transition from coal to renewables in India is real and accelerating. This is an income vehicle with a 5–7 year runway, not a 15-year compounder. Buy at INR 380–430 for the income; hold with an exit plan as renewables approach 60% of India's power mix.</a:t>
            </a:r>
            <a:endParaRPr lang="en-US" sz="1250" dirty="0"/>
          </a:p>
        </p:txBody>
      </p:sp>
      <p:sp>
        <p:nvSpPr>
          <p:cNvPr id="7" name="Shape 5"/>
          <p:cNvSpPr/>
          <p:nvPr/>
        </p:nvSpPr>
        <p:spPr>
          <a:xfrm>
            <a:off x="502920" y="3593592"/>
            <a:ext cx="2029968" cy="987552"/>
          </a:xfrm>
          <a:prstGeom prst="rect">
            <a:avLst/>
          </a:prstGeom>
          <a:solidFill>
            <a:srgbClr val="1C2B5E"/>
          </a:solidFill>
          <a:ln w="6350">
            <a:solidFill>
              <a:srgbClr val="D6E4FF"/>
            </a:solidFill>
            <a:prstDash val="solid"/>
          </a:ln>
        </p:spPr>
      </p:sp>
      <p:sp>
        <p:nvSpPr>
          <p:cNvPr id="8" name="Text 6"/>
          <p:cNvSpPr/>
          <p:nvPr/>
        </p:nvSpPr>
        <p:spPr>
          <a:xfrm>
            <a:off x="612648" y="3666744"/>
            <a:ext cx="1828800" cy="182880"/>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Current Price</a:t>
            </a:r>
            <a:endParaRPr lang="en-US" sz="800" dirty="0"/>
          </a:p>
        </p:txBody>
      </p:sp>
      <p:sp>
        <p:nvSpPr>
          <p:cNvPr id="9" name="Text 7"/>
          <p:cNvSpPr/>
          <p:nvPr/>
        </p:nvSpPr>
        <p:spPr>
          <a:xfrm>
            <a:off x="612648" y="3858768"/>
            <a:ext cx="1828800" cy="43891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INR 466</a:t>
            </a:r>
            <a:endParaRPr lang="en-US" sz="1800" dirty="0"/>
          </a:p>
        </p:txBody>
      </p:sp>
      <p:sp>
        <p:nvSpPr>
          <p:cNvPr id="10" name="Shape 8"/>
          <p:cNvSpPr/>
          <p:nvPr/>
        </p:nvSpPr>
        <p:spPr>
          <a:xfrm>
            <a:off x="2697480" y="3593592"/>
            <a:ext cx="2029968" cy="987552"/>
          </a:xfrm>
          <a:prstGeom prst="rect">
            <a:avLst/>
          </a:prstGeom>
          <a:solidFill>
            <a:srgbClr val="1C2B5E"/>
          </a:solidFill>
          <a:ln w="6350">
            <a:solidFill>
              <a:srgbClr val="D6E4FF"/>
            </a:solidFill>
            <a:prstDash val="solid"/>
          </a:ln>
        </p:spPr>
      </p:sp>
      <p:sp>
        <p:nvSpPr>
          <p:cNvPr id="11" name="Text 9"/>
          <p:cNvSpPr/>
          <p:nvPr/>
        </p:nvSpPr>
        <p:spPr>
          <a:xfrm>
            <a:off x="2807208" y="3666744"/>
            <a:ext cx="1828800" cy="182880"/>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Fair Value (Base)</a:t>
            </a:r>
            <a:endParaRPr lang="en-US" sz="800" dirty="0"/>
          </a:p>
        </p:txBody>
      </p:sp>
      <p:sp>
        <p:nvSpPr>
          <p:cNvPr id="12" name="Text 10"/>
          <p:cNvSpPr/>
          <p:nvPr/>
        </p:nvSpPr>
        <p:spPr>
          <a:xfrm>
            <a:off x="2807208" y="3858768"/>
            <a:ext cx="1828800" cy="43891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INR 685</a:t>
            </a:r>
            <a:endParaRPr lang="en-US" sz="1800" dirty="0"/>
          </a:p>
        </p:txBody>
      </p:sp>
      <p:sp>
        <p:nvSpPr>
          <p:cNvPr id="13" name="Shape 11"/>
          <p:cNvSpPr/>
          <p:nvPr/>
        </p:nvSpPr>
        <p:spPr>
          <a:xfrm>
            <a:off x="4892040" y="3593592"/>
            <a:ext cx="2029968" cy="987552"/>
          </a:xfrm>
          <a:prstGeom prst="rect">
            <a:avLst/>
          </a:prstGeom>
          <a:solidFill>
            <a:srgbClr val="1C2B5E"/>
          </a:solidFill>
          <a:ln w="6350">
            <a:solidFill>
              <a:srgbClr val="D6E4FF"/>
            </a:solidFill>
            <a:prstDash val="solid"/>
          </a:ln>
        </p:spPr>
      </p:sp>
      <p:sp>
        <p:nvSpPr>
          <p:cNvPr id="14" name="Text 12"/>
          <p:cNvSpPr/>
          <p:nvPr/>
        </p:nvSpPr>
        <p:spPr>
          <a:xfrm>
            <a:off x="5001768" y="3666744"/>
            <a:ext cx="1828800" cy="182880"/>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Entry Range</a:t>
            </a:r>
            <a:endParaRPr lang="en-US" sz="800" dirty="0"/>
          </a:p>
        </p:txBody>
      </p:sp>
      <p:sp>
        <p:nvSpPr>
          <p:cNvPr id="15" name="Text 13"/>
          <p:cNvSpPr/>
          <p:nvPr/>
        </p:nvSpPr>
        <p:spPr>
          <a:xfrm>
            <a:off x="5001768" y="3858768"/>
            <a:ext cx="1828800" cy="43891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INR 380 – INR 430</a:t>
            </a:r>
            <a:endParaRPr lang="en-US" sz="1800" dirty="0"/>
          </a:p>
        </p:txBody>
      </p:sp>
      <p:sp>
        <p:nvSpPr>
          <p:cNvPr id="16" name="Shape 14"/>
          <p:cNvSpPr/>
          <p:nvPr/>
        </p:nvSpPr>
        <p:spPr>
          <a:xfrm>
            <a:off x="7086600" y="3593592"/>
            <a:ext cx="2029968" cy="987552"/>
          </a:xfrm>
          <a:prstGeom prst="rect">
            <a:avLst/>
          </a:prstGeom>
          <a:solidFill>
            <a:srgbClr val="1C2B5E"/>
          </a:solidFill>
          <a:ln w="6350">
            <a:solidFill>
              <a:srgbClr val="D6E4FF"/>
            </a:solidFill>
            <a:prstDash val="solid"/>
          </a:ln>
        </p:spPr>
      </p:sp>
      <p:sp>
        <p:nvSpPr>
          <p:cNvPr id="17" name="Text 15"/>
          <p:cNvSpPr/>
          <p:nvPr/>
        </p:nvSpPr>
        <p:spPr>
          <a:xfrm>
            <a:off x="7196328" y="3666744"/>
            <a:ext cx="1828800" cy="182880"/>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Dividend Yield</a:t>
            </a:r>
            <a:endParaRPr lang="en-US" sz="800" dirty="0"/>
          </a:p>
        </p:txBody>
      </p:sp>
      <p:sp>
        <p:nvSpPr>
          <p:cNvPr id="18" name="Text 16"/>
          <p:cNvSpPr/>
          <p:nvPr/>
        </p:nvSpPr>
        <p:spPr>
          <a:xfrm>
            <a:off x="7196328" y="3858768"/>
            <a:ext cx="1828800" cy="43891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5.7%</a:t>
            </a:r>
            <a:endParaRPr lang="en-US" sz="1800" dirty="0"/>
          </a:p>
        </p:txBody>
      </p:sp>
      <p:sp>
        <p:nvSpPr>
          <p:cNvPr id="19" name="Text 17"/>
          <p:cNvSpPr/>
          <p:nvPr/>
        </p:nvSpPr>
        <p:spPr>
          <a:xfrm>
            <a:off x="8778240" y="4846320"/>
            <a:ext cx="274320" cy="182880"/>
          </a:xfrm>
          <a:prstGeom prst="rect">
            <a:avLst/>
          </a:prstGeom>
          <a:noFill/>
          <a:ln/>
        </p:spPr>
        <p:txBody>
          <a:bodyPr wrap="square" lIns="0" tIns="0" rIns="0" bIns="0" rtlCol="0" anchor="ctr"/>
          <a:lstStyle/>
          <a:p>
            <a:pPr algn="r" indent="0" marL="0">
              <a:buNone/>
            </a:pPr>
            <a:r>
              <a:rPr lang="en-US" sz="800" dirty="0">
                <a:solidFill>
                  <a:srgbClr val="64748B"/>
                </a:solidFill>
                <a:latin typeface="Calibri" pitchFamily="34" charset="0"/>
                <a:ea typeface="Calibri" pitchFamily="34" charset="-122"/>
                <a:cs typeface="Calibri"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C2B5E"/>
          </a:solidFill>
          <a:ln/>
        </p:spPr>
      </p:sp>
      <p:sp>
        <p:nvSpPr>
          <p:cNvPr id="3" name="Text 1"/>
          <p:cNvSpPr/>
          <p:nvPr/>
        </p:nvSpPr>
        <p:spPr>
          <a:xfrm>
            <a:off x="365760" y="73152"/>
            <a:ext cx="841248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BUSINESS OVERVIEW — COALINDIA: Coal India Limited</a:t>
            </a:r>
            <a:endParaRPr lang="en-US" sz="1300" dirty="0"/>
          </a:p>
        </p:txBody>
      </p:sp>
      <p:sp>
        <p:nvSpPr>
          <p:cNvPr id="4" name="Shape 2"/>
          <p:cNvSpPr/>
          <p:nvPr/>
        </p:nvSpPr>
        <p:spPr>
          <a:xfrm>
            <a:off x="274320" y="658368"/>
            <a:ext cx="5303520" cy="2331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5" name="Text 3"/>
          <p:cNvSpPr/>
          <p:nvPr/>
        </p:nvSpPr>
        <p:spPr>
          <a:xfrm>
            <a:off x="457200" y="777240"/>
            <a:ext cx="4937760" cy="219456"/>
          </a:xfrm>
          <a:prstGeom prst="rect">
            <a:avLst/>
          </a:prstGeom>
          <a:noFill/>
          <a:ln/>
        </p:spPr>
        <p:txBody>
          <a:bodyPr wrap="square" lIns="0" tIns="0" rIns="0" bIns="0" rtlCol="0" anchor="ctr"/>
          <a:lstStyle/>
          <a:p>
            <a:pPr indent="0" marL="0">
              <a:buNone/>
            </a:pPr>
            <a:r>
              <a:rPr lang="en-US" sz="1000" b="1" dirty="0">
                <a:solidFill>
                  <a:srgbClr val="2D5BE3"/>
                </a:solidFill>
                <a:latin typeface="Calibri" pitchFamily="34" charset="0"/>
                <a:ea typeface="Calibri" pitchFamily="34" charset="-122"/>
                <a:cs typeface="Calibri" pitchFamily="34" charset="-120"/>
              </a:rPr>
              <a:t>What They Do</a:t>
            </a:r>
            <a:endParaRPr lang="en-US" sz="1000" dirty="0"/>
          </a:p>
        </p:txBody>
      </p:sp>
      <p:sp>
        <p:nvSpPr>
          <p:cNvPr id="6" name="Text 4"/>
          <p:cNvSpPr/>
          <p:nvPr/>
        </p:nvSpPr>
        <p:spPr>
          <a:xfrm>
            <a:off x="457200" y="1024128"/>
            <a:ext cx="4937760" cy="1828800"/>
          </a:xfrm>
          <a:prstGeom prst="rect">
            <a:avLst/>
          </a:prstGeom>
          <a:noFill/>
          <a:ln/>
        </p:spPr>
        <p:txBody>
          <a:bodyPr wrap="square" lIns="0" tIns="0" rIns="0" bIns="0" rtlCol="0" anchor="t"/>
          <a:lstStyle/>
          <a:p>
            <a:pPr indent="0" marL="0">
              <a:buNone/>
            </a:pPr>
            <a:r>
              <a:rPr lang="en-US" sz="1050" dirty="0">
                <a:solidFill>
                  <a:srgbClr val="0F172A"/>
                </a:solidFill>
                <a:latin typeface="Calibri" pitchFamily="34" charset="0"/>
                <a:ea typeface="Calibri" pitchFamily="34" charset="-122"/>
                <a:cs typeface="Calibri" pitchFamily="34" charset="-120"/>
              </a:rPr>
              <a:t>Coal India Limited (CIL) is the world's largest coal producer, a Government of India Maharatna PSU producing ~700MT annually across 83 mines in 8 subsidiaries. ~80% of offtake goes to thermal power plants at regulated prices; the balance via e-auction at market rates. Revenue is INR 1,68,400 crore (FY2026). No private competitor can displace it — but India's renewable energy ambitions are the structural long-term risk.</a:t>
            </a:r>
            <a:endParaRPr lang="en-US" sz="1050" dirty="0"/>
          </a:p>
        </p:txBody>
      </p:sp>
      <p:sp>
        <p:nvSpPr>
          <p:cNvPr id="7" name="Shape 5"/>
          <p:cNvSpPr/>
          <p:nvPr/>
        </p:nvSpPr>
        <p:spPr>
          <a:xfrm>
            <a:off x="274320" y="3090672"/>
            <a:ext cx="5303520" cy="1755648"/>
          </a:xfrm>
          <a:prstGeom prst="rect">
            <a:avLst/>
          </a:prstGeom>
          <a:solidFill>
            <a:srgbClr val="1C2B5E"/>
          </a:solidFill>
          <a:ln/>
        </p:spPr>
      </p:sp>
      <p:sp>
        <p:nvSpPr>
          <p:cNvPr id="8" name="Text 6"/>
          <p:cNvSpPr/>
          <p:nvPr/>
        </p:nvSpPr>
        <p:spPr>
          <a:xfrm>
            <a:off x="457200" y="3200400"/>
            <a:ext cx="4937760" cy="201168"/>
          </a:xfrm>
          <a:prstGeom prst="rect">
            <a:avLst/>
          </a:prstGeom>
          <a:noFill/>
          <a:ln/>
        </p:spPr>
        <p:txBody>
          <a:bodyPr wrap="square" lIns="0" tIns="0" rIns="0" bIns="0" rtlCol="0" anchor="ctr"/>
          <a:lstStyle/>
          <a:p>
            <a:pPr indent="0" marL="0">
              <a:buNone/>
            </a:pPr>
            <a:r>
              <a:rPr lang="en-US" sz="900" b="1" spc="200" kern="0" dirty="0">
                <a:solidFill>
                  <a:srgbClr val="D97706"/>
                </a:solidFill>
                <a:latin typeface="Calibri" pitchFamily="34" charset="0"/>
                <a:ea typeface="Calibri" pitchFamily="34" charset="-122"/>
                <a:cs typeface="Calibri" pitchFamily="34" charset="-120"/>
              </a:rPr>
              <a:t>COMPETITIVE MOAT</a:t>
            </a:r>
            <a:endParaRPr lang="en-US" sz="900" dirty="0"/>
          </a:p>
        </p:txBody>
      </p:sp>
      <p:sp>
        <p:nvSpPr>
          <p:cNvPr id="9" name="Text 7"/>
          <p:cNvSpPr/>
          <p:nvPr/>
        </p:nvSpPr>
        <p:spPr>
          <a:xfrm>
            <a:off x="457200" y="3456432"/>
            <a:ext cx="4937760" cy="1005840"/>
          </a:xfrm>
          <a:prstGeom prst="rect">
            <a:avLst/>
          </a:prstGeom>
          <a:noFill/>
          <a:ln/>
        </p:spPr>
        <p:txBody>
          <a:bodyPr wrap="square" lIns="0" tIns="0" rIns="0" bIns="0" rtlCol="0" anchor="ctr"/>
          <a:lstStyle/>
          <a:p>
            <a:pPr indent="0" marL="0">
              <a:buNone/>
            </a:pPr>
            <a:r>
              <a:rPr lang="en-US" sz="1150" b="1" dirty="0">
                <a:solidFill>
                  <a:srgbClr val="D6E4FF"/>
                </a:solidFill>
                <a:latin typeface="Calibri" pitchFamily="34" charset="0"/>
                <a:ea typeface="Calibri" pitchFamily="34" charset="-122"/>
                <a:cs typeface="Calibri" pitchFamily="34" charset="-120"/>
              </a:rPr>
              <a:t>Type: </a:t>
            </a:r>
            <a:pPr indent="0" marL="0">
              <a:buNone/>
            </a:pPr>
            <a:r>
              <a:rPr lang="en-US" sz="1150" dirty="0">
                <a:solidFill>
                  <a:srgbClr val="FFFFFF"/>
                </a:solidFill>
                <a:latin typeface="Calibri" pitchFamily="34" charset="0"/>
                <a:ea typeface="Calibri" pitchFamily="34" charset="-122"/>
                <a:cs typeface="Calibri" pitchFamily="34" charset="-120"/>
              </a:rPr>
              <a:t>Government Monopoly + Irreplaceable Infrastructure</a:t>
            </a:r>
            <a:pPr indent="0" marL="0">
              <a:buNone/>
            </a:pPr>
            <a:endParaRPr lang="en-US" sz="1150" dirty="0"/>
          </a:p>
          <a:p>
            <a:pPr indent="0" marL="0">
              <a:buNone/>
            </a:pPr>
            <a:r>
              <a:rPr lang="en-US" sz="1150" b="1" dirty="0">
                <a:solidFill>
                  <a:srgbClr val="D6E4FF"/>
                </a:solidFill>
                <a:latin typeface="Calibri" pitchFamily="34" charset="0"/>
                <a:ea typeface="Calibri" pitchFamily="34" charset="-122"/>
                <a:cs typeface="Calibri" pitchFamily="34" charset="-120"/>
              </a:rPr>
              <a:t>Strength: </a:t>
            </a:r>
            <a:endParaRPr lang="en-US" sz="1150" dirty="0"/>
          </a:p>
          <a:p>
            <a:pPr indent="0" marL="0">
              <a:buNone/>
            </a:pPr>
            <a:r>
              <a:rPr lang="en-US" sz="1150" dirty="0">
                <a:solidFill>
                  <a:srgbClr val="D97706"/>
                </a:solidFill>
                <a:latin typeface="Calibri" pitchFamily="34" charset="0"/>
                <a:ea typeface="Calibri" pitchFamily="34" charset="-122"/>
                <a:cs typeface="Calibri" pitchFamily="34" charset="-120"/>
              </a:rPr>
              <a:t>Wide — but structurally time-limited</a:t>
            </a:r>
            <a:endParaRPr lang="en-US" sz="1150" dirty="0"/>
          </a:p>
        </p:txBody>
      </p:sp>
      <p:sp>
        <p:nvSpPr>
          <p:cNvPr id="10" name="Shape 8"/>
          <p:cNvSpPr/>
          <p:nvPr/>
        </p:nvSpPr>
        <p:spPr>
          <a:xfrm>
            <a:off x="5870448" y="658368"/>
            <a:ext cx="1572768" cy="960120"/>
          </a:xfrm>
          <a:prstGeom prst="rect">
            <a:avLst/>
          </a:prstGeom>
          <a:solidFill>
            <a:srgbClr val="FFFFFF"/>
          </a:solidFill>
          <a:ln w="12700">
            <a:solidFill>
              <a:srgbClr val="D6E4FF"/>
            </a:solidFill>
            <a:prstDash val="solid"/>
          </a:ln>
          <a:effectLst>
            <a:outerShdw sx="100000" sy="100000" kx="0" ky="0" algn="bl" rotWithShape="0" blurRad="101600" dist="38100" dir="8100000">
              <a:srgbClr val="000000">
                <a:alpha val="10000"/>
              </a:srgbClr>
            </a:outerShdw>
          </a:effectLst>
        </p:spPr>
      </p:sp>
      <p:sp>
        <p:nvSpPr>
          <p:cNvPr id="11" name="Text 9"/>
          <p:cNvSpPr/>
          <p:nvPr/>
        </p:nvSpPr>
        <p:spPr>
          <a:xfrm>
            <a:off x="6035040" y="786384"/>
            <a:ext cx="1298448"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Revenue (FY2026)</a:t>
            </a:r>
            <a:endParaRPr lang="en-US" sz="850" dirty="0"/>
          </a:p>
        </p:txBody>
      </p:sp>
      <p:sp>
        <p:nvSpPr>
          <p:cNvPr id="12" name="Text 10"/>
          <p:cNvSpPr/>
          <p:nvPr/>
        </p:nvSpPr>
        <p:spPr>
          <a:xfrm>
            <a:off x="6035040" y="987552"/>
            <a:ext cx="1298448" cy="347472"/>
          </a:xfrm>
          <a:prstGeom prst="rect">
            <a:avLst/>
          </a:prstGeom>
          <a:noFill/>
          <a:ln/>
        </p:spPr>
        <p:txBody>
          <a:bodyPr wrap="square" lIns="0" tIns="0" rIns="0" bIns="0" rtlCol="0" anchor="ctr"/>
          <a:lstStyle/>
          <a:p>
            <a:pPr indent="0" marL="0">
              <a:buNone/>
            </a:pPr>
            <a:r>
              <a:rPr lang="en-US" sz="1800" b="1" dirty="0">
                <a:solidFill>
                  <a:srgbClr val="1C2B5E"/>
                </a:solidFill>
                <a:latin typeface="Calibri" pitchFamily="34" charset="0"/>
                <a:ea typeface="Calibri" pitchFamily="34" charset="-122"/>
                <a:cs typeface="Calibri" pitchFamily="34" charset="-120"/>
              </a:rPr>
              <a:t>INR 1,684B</a:t>
            </a:r>
            <a:endParaRPr lang="en-US" sz="1800" dirty="0"/>
          </a:p>
        </p:txBody>
      </p:sp>
      <p:sp>
        <p:nvSpPr>
          <p:cNvPr id="13" name="Text 11"/>
          <p:cNvSpPr/>
          <p:nvPr/>
        </p:nvSpPr>
        <p:spPr>
          <a:xfrm>
            <a:off x="6035040" y="1335024"/>
            <a:ext cx="1298448" cy="164592"/>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Flat YoY</a:t>
            </a:r>
            <a:endParaRPr lang="en-US" sz="800" dirty="0"/>
          </a:p>
        </p:txBody>
      </p:sp>
      <p:sp>
        <p:nvSpPr>
          <p:cNvPr id="14" name="Shape 12"/>
          <p:cNvSpPr/>
          <p:nvPr/>
        </p:nvSpPr>
        <p:spPr>
          <a:xfrm>
            <a:off x="7534656" y="658368"/>
            <a:ext cx="1572768" cy="960120"/>
          </a:xfrm>
          <a:prstGeom prst="rect">
            <a:avLst/>
          </a:prstGeom>
          <a:solidFill>
            <a:srgbClr val="FFFFFF"/>
          </a:solidFill>
          <a:ln w="12700">
            <a:solidFill>
              <a:srgbClr val="D6E4FF"/>
            </a:solidFill>
            <a:prstDash val="solid"/>
          </a:ln>
          <a:effectLst>
            <a:outerShdw sx="100000" sy="100000" kx="0" ky="0" algn="bl" rotWithShape="0" blurRad="101600" dist="38100" dir="8100000">
              <a:srgbClr val="000000">
                <a:alpha val="10000"/>
              </a:srgbClr>
            </a:outerShdw>
          </a:effectLst>
        </p:spPr>
      </p:sp>
      <p:sp>
        <p:nvSpPr>
          <p:cNvPr id="15" name="Text 13"/>
          <p:cNvSpPr/>
          <p:nvPr/>
        </p:nvSpPr>
        <p:spPr>
          <a:xfrm>
            <a:off x="7699248" y="786384"/>
            <a:ext cx="1298448"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Gross Margin</a:t>
            </a:r>
            <a:endParaRPr lang="en-US" sz="850" dirty="0"/>
          </a:p>
        </p:txBody>
      </p:sp>
      <p:sp>
        <p:nvSpPr>
          <p:cNvPr id="16" name="Text 14"/>
          <p:cNvSpPr/>
          <p:nvPr/>
        </p:nvSpPr>
        <p:spPr>
          <a:xfrm>
            <a:off x="7699248" y="987552"/>
            <a:ext cx="1298448" cy="347472"/>
          </a:xfrm>
          <a:prstGeom prst="rect">
            <a:avLst/>
          </a:prstGeom>
          <a:noFill/>
          <a:ln/>
        </p:spPr>
        <p:txBody>
          <a:bodyPr wrap="square" lIns="0" tIns="0" rIns="0" bIns="0" rtlCol="0" anchor="ctr"/>
          <a:lstStyle/>
          <a:p>
            <a:pPr indent="0" marL="0">
              <a:buNone/>
            </a:pPr>
            <a:r>
              <a:rPr lang="en-US" sz="1800" b="1" dirty="0">
                <a:solidFill>
                  <a:srgbClr val="1C2B5E"/>
                </a:solidFill>
                <a:latin typeface="Calibri" pitchFamily="34" charset="0"/>
                <a:ea typeface="Calibri" pitchFamily="34" charset="-122"/>
                <a:cs typeface="Calibri" pitchFamily="34" charset="-120"/>
              </a:rPr>
              <a:t>89.0%</a:t>
            </a:r>
            <a:endParaRPr lang="en-US" sz="1800" dirty="0"/>
          </a:p>
        </p:txBody>
      </p:sp>
      <p:sp>
        <p:nvSpPr>
          <p:cNvPr id="17" name="Text 15"/>
          <p:cNvSpPr/>
          <p:nvPr/>
        </p:nvSpPr>
        <p:spPr>
          <a:xfrm>
            <a:off x="7699248" y="1335024"/>
            <a:ext cx="1298448" cy="164592"/>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FY2026</a:t>
            </a:r>
            <a:endParaRPr lang="en-US" sz="800" dirty="0"/>
          </a:p>
        </p:txBody>
      </p:sp>
      <p:sp>
        <p:nvSpPr>
          <p:cNvPr id="18" name="Shape 16"/>
          <p:cNvSpPr/>
          <p:nvPr/>
        </p:nvSpPr>
        <p:spPr>
          <a:xfrm>
            <a:off x="5870448" y="1709928"/>
            <a:ext cx="1572768" cy="960120"/>
          </a:xfrm>
          <a:prstGeom prst="rect">
            <a:avLst/>
          </a:prstGeom>
          <a:solidFill>
            <a:srgbClr val="FFFFFF"/>
          </a:solidFill>
          <a:ln w="12700">
            <a:solidFill>
              <a:srgbClr val="D6E4FF"/>
            </a:solidFill>
            <a:prstDash val="solid"/>
          </a:ln>
          <a:effectLst>
            <a:outerShdw sx="100000" sy="100000" kx="0" ky="0" algn="bl" rotWithShape="0" blurRad="101600" dist="38100" dir="8100000">
              <a:srgbClr val="000000">
                <a:alpha val="10000"/>
              </a:srgbClr>
            </a:outerShdw>
          </a:effectLst>
        </p:spPr>
      </p:sp>
      <p:sp>
        <p:nvSpPr>
          <p:cNvPr id="19" name="Text 17"/>
          <p:cNvSpPr/>
          <p:nvPr/>
        </p:nvSpPr>
        <p:spPr>
          <a:xfrm>
            <a:off x="6035040" y="1837944"/>
            <a:ext cx="1298448"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Operating Margin</a:t>
            </a:r>
            <a:endParaRPr lang="en-US" sz="850" dirty="0"/>
          </a:p>
        </p:txBody>
      </p:sp>
      <p:sp>
        <p:nvSpPr>
          <p:cNvPr id="20" name="Text 18"/>
          <p:cNvSpPr/>
          <p:nvPr/>
        </p:nvSpPr>
        <p:spPr>
          <a:xfrm>
            <a:off x="6035040" y="2039112"/>
            <a:ext cx="1298448" cy="347472"/>
          </a:xfrm>
          <a:prstGeom prst="rect">
            <a:avLst/>
          </a:prstGeom>
          <a:noFill/>
          <a:ln/>
        </p:spPr>
        <p:txBody>
          <a:bodyPr wrap="square" lIns="0" tIns="0" rIns="0" bIns="0" rtlCol="0" anchor="ctr"/>
          <a:lstStyle/>
          <a:p>
            <a:pPr indent="0" marL="0">
              <a:buNone/>
            </a:pPr>
            <a:r>
              <a:rPr lang="en-US" sz="1800" b="1" dirty="0">
                <a:solidFill>
                  <a:srgbClr val="1C2B5E"/>
                </a:solidFill>
                <a:latin typeface="Calibri" pitchFamily="34" charset="0"/>
                <a:ea typeface="Calibri" pitchFamily="34" charset="-122"/>
                <a:cs typeface="Calibri" pitchFamily="34" charset="-120"/>
              </a:rPr>
              <a:t>18.5%</a:t>
            </a:r>
            <a:endParaRPr lang="en-US" sz="1800" dirty="0"/>
          </a:p>
        </p:txBody>
      </p:sp>
      <p:sp>
        <p:nvSpPr>
          <p:cNvPr id="21" name="Text 19"/>
          <p:cNvSpPr/>
          <p:nvPr/>
        </p:nvSpPr>
        <p:spPr>
          <a:xfrm>
            <a:off x="6035040" y="2386584"/>
            <a:ext cx="1298448" cy="164592"/>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FY2026</a:t>
            </a:r>
            <a:endParaRPr lang="en-US" sz="800" dirty="0"/>
          </a:p>
        </p:txBody>
      </p:sp>
      <p:sp>
        <p:nvSpPr>
          <p:cNvPr id="22" name="Shape 20"/>
          <p:cNvSpPr/>
          <p:nvPr/>
        </p:nvSpPr>
        <p:spPr>
          <a:xfrm>
            <a:off x="7534656" y="1709928"/>
            <a:ext cx="1572768" cy="960120"/>
          </a:xfrm>
          <a:prstGeom prst="rect">
            <a:avLst/>
          </a:prstGeom>
          <a:solidFill>
            <a:srgbClr val="FFFFFF"/>
          </a:solidFill>
          <a:ln w="12700">
            <a:solidFill>
              <a:srgbClr val="D6E4FF"/>
            </a:solidFill>
            <a:prstDash val="solid"/>
          </a:ln>
          <a:effectLst>
            <a:outerShdw sx="100000" sy="100000" kx="0" ky="0" algn="bl" rotWithShape="0" blurRad="101600" dist="38100" dir="8100000">
              <a:srgbClr val="000000">
                <a:alpha val="10000"/>
              </a:srgbClr>
            </a:outerShdw>
          </a:effectLst>
        </p:spPr>
      </p:sp>
      <p:sp>
        <p:nvSpPr>
          <p:cNvPr id="23" name="Text 21"/>
          <p:cNvSpPr/>
          <p:nvPr/>
        </p:nvSpPr>
        <p:spPr>
          <a:xfrm>
            <a:off x="7699248" y="1837944"/>
            <a:ext cx="1298448"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ROCE</a:t>
            </a:r>
            <a:endParaRPr lang="en-US" sz="850" dirty="0"/>
          </a:p>
        </p:txBody>
      </p:sp>
      <p:sp>
        <p:nvSpPr>
          <p:cNvPr id="24" name="Text 22"/>
          <p:cNvSpPr/>
          <p:nvPr/>
        </p:nvSpPr>
        <p:spPr>
          <a:xfrm>
            <a:off x="7699248" y="2039112"/>
            <a:ext cx="1298448" cy="347472"/>
          </a:xfrm>
          <a:prstGeom prst="rect">
            <a:avLst/>
          </a:prstGeom>
          <a:noFill/>
          <a:ln/>
        </p:spPr>
        <p:txBody>
          <a:bodyPr wrap="square" lIns="0" tIns="0" rIns="0" bIns="0" rtlCol="0" anchor="ctr"/>
          <a:lstStyle/>
          <a:p>
            <a:pPr indent="0" marL="0">
              <a:buNone/>
            </a:pPr>
            <a:r>
              <a:rPr lang="en-US" sz="1800" b="1" dirty="0">
                <a:solidFill>
                  <a:srgbClr val="1C2B5E"/>
                </a:solidFill>
                <a:latin typeface="Calibri" pitchFamily="34" charset="0"/>
                <a:ea typeface="Calibri" pitchFamily="34" charset="-122"/>
                <a:cs typeface="Calibri" pitchFamily="34" charset="-120"/>
              </a:rPr>
              <a:t>35.3%</a:t>
            </a:r>
            <a:endParaRPr lang="en-US" sz="1800" dirty="0"/>
          </a:p>
        </p:txBody>
      </p:sp>
      <p:sp>
        <p:nvSpPr>
          <p:cNvPr id="25" name="Text 23"/>
          <p:cNvSpPr/>
          <p:nvPr/>
        </p:nvSpPr>
        <p:spPr>
          <a:xfrm>
            <a:off x="7699248" y="2386584"/>
            <a:ext cx="1298448" cy="164592"/>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Exceptional</a:t>
            </a:r>
            <a:endParaRPr lang="en-US" sz="800" dirty="0"/>
          </a:p>
        </p:txBody>
      </p:sp>
      <p:sp>
        <p:nvSpPr>
          <p:cNvPr id="26" name="Shape 24"/>
          <p:cNvSpPr/>
          <p:nvPr/>
        </p:nvSpPr>
        <p:spPr>
          <a:xfrm>
            <a:off x="5870448" y="2761488"/>
            <a:ext cx="1572768" cy="960120"/>
          </a:xfrm>
          <a:prstGeom prst="rect">
            <a:avLst/>
          </a:prstGeom>
          <a:solidFill>
            <a:srgbClr val="FFFFFF"/>
          </a:solidFill>
          <a:ln w="12700">
            <a:solidFill>
              <a:srgbClr val="D6E4FF"/>
            </a:solidFill>
            <a:prstDash val="solid"/>
          </a:ln>
          <a:effectLst>
            <a:outerShdw sx="100000" sy="100000" kx="0" ky="0" algn="bl" rotWithShape="0" blurRad="101600" dist="38100" dir="8100000">
              <a:srgbClr val="000000">
                <a:alpha val="10000"/>
              </a:srgbClr>
            </a:outerShdw>
          </a:effectLst>
        </p:spPr>
      </p:sp>
      <p:sp>
        <p:nvSpPr>
          <p:cNvPr id="27" name="Text 25"/>
          <p:cNvSpPr/>
          <p:nvPr/>
        </p:nvSpPr>
        <p:spPr>
          <a:xfrm>
            <a:off x="6035040" y="2889504"/>
            <a:ext cx="1298448"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Dividend Yield</a:t>
            </a:r>
            <a:endParaRPr lang="en-US" sz="850" dirty="0"/>
          </a:p>
        </p:txBody>
      </p:sp>
      <p:sp>
        <p:nvSpPr>
          <p:cNvPr id="28" name="Text 26"/>
          <p:cNvSpPr/>
          <p:nvPr/>
        </p:nvSpPr>
        <p:spPr>
          <a:xfrm>
            <a:off x="6035040" y="3090672"/>
            <a:ext cx="1298448" cy="347472"/>
          </a:xfrm>
          <a:prstGeom prst="rect">
            <a:avLst/>
          </a:prstGeom>
          <a:noFill/>
          <a:ln/>
        </p:spPr>
        <p:txBody>
          <a:bodyPr wrap="square" lIns="0" tIns="0" rIns="0" bIns="0" rtlCol="0" anchor="ctr"/>
          <a:lstStyle/>
          <a:p>
            <a:pPr indent="0" marL="0">
              <a:buNone/>
            </a:pPr>
            <a:r>
              <a:rPr lang="en-US" sz="1800" b="1" dirty="0">
                <a:solidFill>
                  <a:srgbClr val="1C2B5E"/>
                </a:solidFill>
                <a:latin typeface="Calibri" pitchFamily="34" charset="0"/>
                <a:ea typeface="Calibri" pitchFamily="34" charset="-122"/>
                <a:cs typeface="Calibri" pitchFamily="34" charset="-120"/>
              </a:rPr>
              <a:t>5.7%</a:t>
            </a:r>
            <a:endParaRPr lang="en-US" sz="1800" dirty="0"/>
          </a:p>
        </p:txBody>
      </p:sp>
      <p:sp>
        <p:nvSpPr>
          <p:cNvPr id="29" name="Text 27"/>
          <p:cNvSpPr/>
          <p:nvPr/>
        </p:nvSpPr>
        <p:spPr>
          <a:xfrm>
            <a:off x="6035040" y="3438144"/>
            <a:ext cx="1298448" cy="164592"/>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TTM</a:t>
            </a:r>
            <a:endParaRPr lang="en-US" sz="800" dirty="0"/>
          </a:p>
        </p:txBody>
      </p:sp>
      <p:sp>
        <p:nvSpPr>
          <p:cNvPr id="30" name="Shape 28"/>
          <p:cNvSpPr/>
          <p:nvPr/>
        </p:nvSpPr>
        <p:spPr>
          <a:xfrm>
            <a:off x="7534656" y="2761488"/>
            <a:ext cx="1572768" cy="960120"/>
          </a:xfrm>
          <a:prstGeom prst="rect">
            <a:avLst/>
          </a:prstGeom>
          <a:solidFill>
            <a:srgbClr val="FFFFFF"/>
          </a:solidFill>
          <a:ln w="12700">
            <a:solidFill>
              <a:srgbClr val="D6E4FF"/>
            </a:solidFill>
            <a:prstDash val="solid"/>
          </a:ln>
          <a:effectLst>
            <a:outerShdw sx="100000" sy="100000" kx="0" ky="0" algn="bl" rotWithShape="0" blurRad="101600" dist="38100" dir="8100000">
              <a:srgbClr val="000000">
                <a:alpha val="10000"/>
              </a:srgbClr>
            </a:outerShdw>
          </a:effectLst>
        </p:spPr>
      </p:sp>
      <p:sp>
        <p:nvSpPr>
          <p:cNvPr id="31" name="Text 29"/>
          <p:cNvSpPr/>
          <p:nvPr/>
        </p:nvSpPr>
        <p:spPr>
          <a:xfrm>
            <a:off x="7699248" y="2889504"/>
            <a:ext cx="1298448"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Production Target</a:t>
            </a:r>
            <a:endParaRPr lang="en-US" sz="850" dirty="0"/>
          </a:p>
        </p:txBody>
      </p:sp>
      <p:sp>
        <p:nvSpPr>
          <p:cNvPr id="32" name="Text 30"/>
          <p:cNvSpPr/>
          <p:nvPr/>
        </p:nvSpPr>
        <p:spPr>
          <a:xfrm>
            <a:off x="7699248" y="3090672"/>
            <a:ext cx="1298448" cy="347472"/>
          </a:xfrm>
          <a:prstGeom prst="rect">
            <a:avLst/>
          </a:prstGeom>
          <a:noFill/>
          <a:ln/>
        </p:spPr>
        <p:txBody>
          <a:bodyPr wrap="square" lIns="0" tIns="0" rIns="0" bIns="0" rtlCol="0" anchor="ctr"/>
          <a:lstStyle/>
          <a:p>
            <a:pPr indent="0" marL="0">
              <a:buNone/>
            </a:pPr>
            <a:r>
              <a:rPr lang="en-US" sz="1800" b="1" dirty="0">
                <a:solidFill>
                  <a:srgbClr val="1C2B5E"/>
                </a:solidFill>
                <a:latin typeface="Calibri" pitchFamily="34" charset="0"/>
                <a:ea typeface="Calibri" pitchFamily="34" charset="-122"/>
                <a:cs typeface="Calibri" pitchFamily="34" charset="-120"/>
              </a:rPr>
              <a:t>810 MT</a:t>
            </a:r>
            <a:endParaRPr lang="en-US" sz="1800" dirty="0"/>
          </a:p>
        </p:txBody>
      </p:sp>
      <p:sp>
        <p:nvSpPr>
          <p:cNvPr id="33" name="Text 31"/>
          <p:cNvSpPr/>
          <p:nvPr/>
        </p:nvSpPr>
        <p:spPr>
          <a:xfrm>
            <a:off x="7699248" y="3438144"/>
            <a:ext cx="1298448" cy="164592"/>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by FY2028</a:t>
            </a:r>
            <a:endParaRPr lang="en-US" sz="800" dirty="0"/>
          </a:p>
        </p:txBody>
      </p:sp>
      <p:sp>
        <p:nvSpPr>
          <p:cNvPr id="34" name="Text 32"/>
          <p:cNvSpPr/>
          <p:nvPr/>
        </p:nvSpPr>
        <p:spPr>
          <a:xfrm>
            <a:off x="8778240" y="4846320"/>
            <a:ext cx="274320" cy="182880"/>
          </a:xfrm>
          <a:prstGeom prst="rect">
            <a:avLst/>
          </a:prstGeom>
          <a:noFill/>
          <a:ln/>
        </p:spPr>
        <p:txBody>
          <a:bodyPr wrap="square" lIns="0" tIns="0" rIns="0" bIns="0" rtlCol="0" anchor="ctr"/>
          <a:lstStyle/>
          <a:p>
            <a:pPr algn="r" indent="0" marL="0">
              <a:buNone/>
            </a:pPr>
            <a:r>
              <a:rPr lang="en-US" sz="800" dirty="0">
                <a:solidFill>
                  <a:srgbClr val="64748B"/>
                </a:solidFill>
                <a:latin typeface="Calibri" pitchFamily="34" charset="0"/>
                <a:ea typeface="Calibri" pitchFamily="34" charset="-122"/>
                <a:cs typeface="Calibri"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C2B5E"/>
          </a:solidFill>
          <a:ln/>
        </p:spPr>
      </p:sp>
      <p:sp>
        <p:nvSpPr>
          <p:cNvPr id="3" name="Text 1"/>
          <p:cNvSpPr/>
          <p:nvPr/>
        </p:nvSpPr>
        <p:spPr>
          <a:xfrm>
            <a:off x="365760" y="73152"/>
            <a:ext cx="841248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EARNINGS QUALITY — Are the numbers real and repeatable?</a:t>
            </a:r>
            <a:endParaRPr lang="en-US" sz="1300" dirty="0"/>
          </a:p>
        </p:txBody>
      </p:sp>
      <p:sp>
        <p:nvSpPr>
          <p:cNvPr id="4" name="Text 2"/>
          <p:cNvSpPr/>
          <p:nvPr/>
        </p:nvSpPr>
        <p:spPr>
          <a:xfrm>
            <a:off x="274320" y="594360"/>
            <a:ext cx="4114800" cy="219456"/>
          </a:xfrm>
          <a:prstGeom prst="rect">
            <a:avLst/>
          </a:prstGeom>
          <a:noFill/>
          <a:ln/>
        </p:spPr>
        <p:txBody>
          <a:bodyPr wrap="square" lIns="0" tIns="0" rIns="0" bIns="0" rtlCol="0" anchor="ctr"/>
          <a:lstStyle/>
          <a:p>
            <a:pPr indent="0" marL="0">
              <a:buNone/>
            </a:pPr>
            <a:r>
              <a:rPr lang="en-US" sz="1000" b="1" dirty="0">
                <a:solidFill>
                  <a:srgbClr val="334155"/>
                </a:solidFill>
                <a:latin typeface="Calibri" pitchFamily="34" charset="0"/>
                <a:ea typeface="Calibri" pitchFamily="34" charset="-122"/>
                <a:cs typeface="Calibri" pitchFamily="34" charset="-120"/>
              </a:rPr>
              <a:t>Margin Trends (%)</a:t>
            </a:r>
            <a:endParaRPr lang="en-US" sz="1000" dirty="0"/>
          </a:p>
        </p:txBody>
      </p:sp>
      <p:graphicFrame>
        <p:nvGraphicFramePr>
          <p:cNvPr id="5" name="Chart 0" descr=""/>
          <p:cNvGraphicFramePr/>
          <p:nvPr/>
        </p:nvGraphicFramePr>
        <p:xfrm>
          <a:off x="274320" y="822960"/>
          <a:ext cx="4297680" cy="22860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4663440" y="594360"/>
            <a:ext cx="4297680" cy="219456"/>
          </a:xfrm>
          <a:prstGeom prst="rect">
            <a:avLst/>
          </a:prstGeom>
          <a:noFill/>
          <a:ln/>
        </p:spPr>
        <p:txBody>
          <a:bodyPr wrap="square" lIns="0" tIns="0" rIns="0" bIns="0" rtlCol="0" anchor="ctr"/>
          <a:lstStyle/>
          <a:p>
            <a:pPr indent="0" marL="0">
              <a:buNone/>
            </a:pPr>
            <a:r>
              <a:rPr lang="en-US" sz="1000" b="1" dirty="0">
                <a:solidFill>
                  <a:srgbClr val="334155"/>
                </a:solidFill>
                <a:latin typeface="Calibri" pitchFamily="34" charset="0"/>
                <a:ea typeface="Calibri" pitchFamily="34" charset="-122"/>
                <a:cs typeface="Calibri" pitchFamily="34" charset="-120"/>
              </a:rPr>
              <a:t>FCF vs. Net Income (INR B)</a:t>
            </a:r>
            <a:endParaRPr lang="en-US" sz="1000" dirty="0"/>
          </a:p>
        </p:txBody>
      </p:sp>
      <p:graphicFrame>
        <p:nvGraphicFramePr>
          <p:cNvPr id="7" name="Chart 1" descr=""/>
          <p:cNvGraphicFramePr/>
          <p:nvPr/>
        </p:nvGraphicFramePr>
        <p:xfrm>
          <a:off x="4663440" y="822960"/>
          <a:ext cx="4297680" cy="228600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274320" y="3246120"/>
            <a:ext cx="2029968" cy="749808"/>
          </a:xfrm>
          <a:prstGeom prst="rect">
            <a:avLst/>
          </a:prstGeom>
          <a:solidFill>
            <a:srgbClr val="FFFFFF"/>
          </a:solidFill>
          <a:ln w="19050">
            <a:solidFill>
              <a:srgbClr val="D97706"/>
            </a:solidFill>
            <a:prstDash val="solid"/>
          </a:ln>
          <a:effectLst>
            <a:outerShdw sx="100000" sy="100000" kx="0" ky="0" algn="bl" rotWithShape="0" blurRad="101600" dist="38100" dir="8100000">
              <a:srgbClr val="000000">
                <a:alpha val="10000"/>
              </a:srgbClr>
            </a:outerShdw>
          </a:effectLst>
        </p:spPr>
      </p:sp>
      <p:sp>
        <p:nvSpPr>
          <p:cNvPr id="9" name="Text 5"/>
          <p:cNvSpPr/>
          <p:nvPr/>
        </p:nvSpPr>
        <p:spPr>
          <a:xfrm>
            <a:off x="347472" y="3291840"/>
            <a:ext cx="1883664" cy="182880"/>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FY2023</a:t>
            </a:r>
            <a:endParaRPr lang="en-US" sz="800" dirty="0"/>
          </a:p>
        </p:txBody>
      </p:sp>
      <p:sp>
        <p:nvSpPr>
          <p:cNvPr id="10" name="Text 6"/>
          <p:cNvSpPr/>
          <p:nvPr/>
        </p:nvSpPr>
        <p:spPr>
          <a:xfrm>
            <a:off x="347472" y="3456432"/>
            <a:ext cx="1883664" cy="274320"/>
          </a:xfrm>
          <a:prstGeom prst="rect">
            <a:avLst/>
          </a:prstGeom>
          <a:noFill/>
          <a:ln/>
        </p:spPr>
        <p:txBody>
          <a:bodyPr wrap="square" lIns="0" tIns="0" rIns="0" bIns="0" rtlCol="0" anchor="ctr"/>
          <a:lstStyle/>
          <a:p>
            <a:pPr algn="ctr" indent="0" marL="0">
              <a:buNone/>
            </a:pPr>
            <a:r>
              <a:rPr lang="en-US" sz="1800" b="1" dirty="0">
                <a:solidFill>
                  <a:srgbClr val="D97706"/>
                </a:solidFill>
                <a:latin typeface="Calibri" pitchFamily="34" charset="0"/>
                <a:ea typeface="Calibri" pitchFamily="34" charset="-122"/>
                <a:cs typeface="Calibri" pitchFamily="34" charset="-120"/>
              </a:rPr>
              <a:t>0.64x</a:t>
            </a:r>
            <a:endParaRPr lang="en-US" sz="1800" dirty="0"/>
          </a:p>
        </p:txBody>
      </p:sp>
      <p:sp>
        <p:nvSpPr>
          <p:cNvPr id="11" name="Shape 7"/>
          <p:cNvSpPr/>
          <p:nvPr/>
        </p:nvSpPr>
        <p:spPr>
          <a:xfrm>
            <a:off x="2450592" y="3246120"/>
            <a:ext cx="2029968" cy="749808"/>
          </a:xfrm>
          <a:prstGeom prst="rect">
            <a:avLst/>
          </a:prstGeom>
          <a:solidFill>
            <a:srgbClr val="FFFFFF"/>
          </a:solidFill>
          <a:ln w="19050">
            <a:solidFill>
              <a:srgbClr val="DC2626"/>
            </a:solidFill>
            <a:prstDash val="solid"/>
          </a:ln>
          <a:effectLst>
            <a:outerShdw sx="100000" sy="100000" kx="0" ky="0" algn="bl" rotWithShape="0" blurRad="101600" dist="38100" dir="8100000">
              <a:srgbClr val="000000">
                <a:alpha val="10000"/>
              </a:srgbClr>
            </a:outerShdw>
          </a:effectLst>
        </p:spPr>
      </p:sp>
      <p:sp>
        <p:nvSpPr>
          <p:cNvPr id="12" name="Text 8"/>
          <p:cNvSpPr/>
          <p:nvPr/>
        </p:nvSpPr>
        <p:spPr>
          <a:xfrm>
            <a:off x="2523744" y="3291840"/>
            <a:ext cx="1883664" cy="182880"/>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FY2024</a:t>
            </a:r>
            <a:endParaRPr lang="en-US" sz="800" dirty="0"/>
          </a:p>
        </p:txBody>
      </p:sp>
      <p:sp>
        <p:nvSpPr>
          <p:cNvPr id="13" name="Text 9"/>
          <p:cNvSpPr/>
          <p:nvPr/>
        </p:nvSpPr>
        <p:spPr>
          <a:xfrm>
            <a:off x="2523744" y="3456432"/>
            <a:ext cx="1883664" cy="274320"/>
          </a:xfrm>
          <a:prstGeom prst="rect">
            <a:avLst/>
          </a:prstGeom>
          <a:noFill/>
          <a:ln/>
        </p:spPr>
        <p:txBody>
          <a:bodyPr wrap="square" lIns="0" tIns="0" rIns="0" bIns="0" rtlCol="0" anchor="ctr"/>
          <a:lstStyle/>
          <a:p>
            <a:pPr algn="ctr" indent="0" marL="0">
              <a:buNone/>
            </a:pPr>
            <a:r>
              <a:rPr lang="en-US" sz="1800" b="1" dirty="0">
                <a:solidFill>
                  <a:srgbClr val="DC2626"/>
                </a:solidFill>
                <a:latin typeface="Calibri" pitchFamily="34" charset="0"/>
                <a:ea typeface="Calibri" pitchFamily="34" charset="-122"/>
                <a:cs typeface="Calibri" pitchFamily="34" charset="-120"/>
              </a:rPr>
              <a:t>0.03x</a:t>
            </a:r>
            <a:endParaRPr lang="en-US" sz="1800" dirty="0"/>
          </a:p>
        </p:txBody>
      </p:sp>
      <p:sp>
        <p:nvSpPr>
          <p:cNvPr id="14" name="Shape 10"/>
          <p:cNvSpPr/>
          <p:nvPr/>
        </p:nvSpPr>
        <p:spPr>
          <a:xfrm>
            <a:off x="4626864" y="3246120"/>
            <a:ext cx="2029968" cy="749808"/>
          </a:xfrm>
          <a:prstGeom prst="rect">
            <a:avLst/>
          </a:prstGeom>
          <a:solidFill>
            <a:srgbClr val="FFFFFF"/>
          </a:solidFill>
          <a:ln w="19050">
            <a:solidFill>
              <a:srgbClr val="DC2626"/>
            </a:solidFill>
            <a:prstDash val="solid"/>
          </a:ln>
          <a:effectLst>
            <a:outerShdw sx="100000" sy="100000" kx="0" ky="0" algn="bl" rotWithShape="0" blurRad="101600" dist="38100" dir="8100000">
              <a:srgbClr val="000000">
                <a:alpha val="10000"/>
              </a:srgbClr>
            </a:outerShdw>
          </a:effectLst>
        </p:spPr>
      </p:sp>
      <p:sp>
        <p:nvSpPr>
          <p:cNvPr id="15" name="Text 11"/>
          <p:cNvSpPr/>
          <p:nvPr/>
        </p:nvSpPr>
        <p:spPr>
          <a:xfrm>
            <a:off x="4700016" y="3291840"/>
            <a:ext cx="1883664" cy="182880"/>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FY2025</a:t>
            </a:r>
            <a:endParaRPr lang="en-US" sz="800" dirty="0"/>
          </a:p>
        </p:txBody>
      </p:sp>
      <p:sp>
        <p:nvSpPr>
          <p:cNvPr id="16" name="Text 12"/>
          <p:cNvSpPr/>
          <p:nvPr/>
        </p:nvSpPr>
        <p:spPr>
          <a:xfrm>
            <a:off x="4700016" y="3456432"/>
            <a:ext cx="1883664" cy="274320"/>
          </a:xfrm>
          <a:prstGeom prst="rect">
            <a:avLst/>
          </a:prstGeom>
          <a:noFill/>
          <a:ln/>
        </p:spPr>
        <p:txBody>
          <a:bodyPr wrap="square" lIns="0" tIns="0" rIns="0" bIns="0" rtlCol="0" anchor="ctr"/>
          <a:lstStyle/>
          <a:p>
            <a:pPr algn="ctr" indent="0" marL="0">
              <a:buNone/>
            </a:pPr>
            <a:r>
              <a:rPr lang="en-US" sz="1800" b="1" dirty="0">
                <a:solidFill>
                  <a:srgbClr val="DC2626"/>
                </a:solidFill>
                <a:latin typeface="Calibri" pitchFamily="34" charset="0"/>
                <a:ea typeface="Calibri" pitchFamily="34" charset="-122"/>
                <a:cs typeface="Calibri" pitchFamily="34" charset="-120"/>
              </a:rPr>
              <a:t>0.45x</a:t>
            </a:r>
            <a:endParaRPr lang="en-US" sz="1800" dirty="0"/>
          </a:p>
        </p:txBody>
      </p:sp>
      <p:sp>
        <p:nvSpPr>
          <p:cNvPr id="17" name="Shape 13"/>
          <p:cNvSpPr/>
          <p:nvPr/>
        </p:nvSpPr>
        <p:spPr>
          <a:xfrm>
            <a:off x="6803136" y="3246120"/>
            <a:ext cx="2029968" cy="749808"/>
          </a:xfrm>
          <a:prstGeom prst="rect">
            <a:avLst/>
          </a:prstGeom>
          <a:solidFill>
            <a:srgbClr val="FFFFFF"/>
          </a:solidFill>
          <a:ln w="19050">
            <a:solidFill>
              <a:srgbClr val="059669"/>
            </a:solidFill>
            <a:prstDash val="solid"/>
          </a:ln>
          <a:effectLst>
            <a:outerShdw sx="100000" sy="100000" kx="0" ky="0" algn="bl" rotWithShape="0" blurRad="101600" dist="38100" dir="8100000">
              <a:srgbClr val="000000">
                <a:alpha val="10000"/>
              </a:srgbClr>
            </a:outerShdw>
          </a:effectLst>
        </p:spPr>
      </p:sp>
      <p:sp>
        <p:nvSpPr>
          <p:cNvPr id="18" name="Text 14"/>
          <p:cNvSpPr/>
          <p:nvPr/>
        </p:nvSpPr>
        <p:spPr>
          <a:xfrm>
            <a:off x="6876288" y="3291840"/>
            <a:ext cx="1883664" cy="182880"/>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FY2026</a:t>
            </a:r>
            <a:endParaRPr lang="en-US" sz="800" dirty="0"/>
          </a:p>
        </p:txBody>
      </p:sp>
      <p:sp>
        <p:nvSpPr>
          <p:cNvPr id="19" name="Text 15"/>
          <p:cNvSpPr/>
          <p:nvPr/>
        </p:nvSpPr>
        <p:spPr>
          <a:xfrm>
            <a:off x="6876288" y="3456432"/>
            <a:ext cx="1883664" cy="274320"/>
          </a:xfrm>
          <a:prstGeom prst="rect">
            <a:avLst/>
          </a:prstGeom>
          <a:noFill/>
          <a:ln/>
        </p:spPr>
        <p:txBody>
          <a:bodyPr wrap="square" lIns="0" tIns="0" rIns="0" bIns="0" rtlCol="0" anchor="ctr"/>
          <a:lstStyle/>
          <a:p>
            <a:pPr algn="ctr" indent="0" marL="0">
              <a:buNone/>
            </a:pPr>
            <a:r>
              <a:rPr lang="en-US" sz="1800" b="1" dirty="0">
                <a:solidFill>
                  <a:srgbClr val="059669"/>
                </a:solidFill>
                <a:latin typeface="Calibri" pitchFamily="34" charset="0"/>
                <a:ea typeface="Calibri" pitchFamily="34" charset="-122"/>
                <a:cs typeface="Calibri" pitchFamily="34" charset="-120"/>
              </a:rPr>
              <a:t>0.99x</a:t>
            </a:r>
            <a:endParaRPr lang="en-US" sz="1800" dirty="0"/>
          </a:p>
        </p:txBody>
      </p:sp>
      <p:sp>
        <p:nvSpPr>
          <p:cNvPr id="20" name="Text 16"/>
          <p:cNvSpPr/>
          <p:nvPr/>
        </p:nvSpPr>
        <p:spPr>
          <a:xfrm>
            <a:off x="274320" y="4069080"/>
            <a:ext cx="8595360" cy="201168"/>
          </a:xfrm>
          <a:prstGeom prst="rect">
            <a:avLst/>
          </a:prstGeom>
          <a:noFill/>
          <a:ln/>
        </p:spPr>
        <p:txBody>
          <a:bodyPr wrap="square" lIns="0" tIns="0" rIns="0" bIns="0" rtlCol="0" anchor="ctr"/>
          <a:lstStyle/>
          <a:p>
            <a:pPr indent="0" marL="0">
              <a:buNone/>
            </a:pPr>
            <a:r>
              <a:rPr lang="en-US" sz="800" i="1" dirty="0">
                <a:solidFill>
                  <a:srgbClr val="64748B"/>
                </a:solidFill>
                <a:latin typeface="Calibri" pitchFamily="34" charset="0"/>
                <a:ea typeface="Calibri" pitchFamily="34" charset="-122"/>
                <a:cs typeface="Calibri" pitchFamily="34" charset="-120"/>
              </a:rPr>
              <a:t>FCF / Net Income ratio  (&gt;0.9x = High Quality  |  0.6–0.9x = Moderate  |  &lt;0.6x = Red Flag  ·  FY2024–25 weak due to heavy mine capex)</a:t>
            </a:r>
            <a:endParaRPr lang="en-US" sz="800" dirty="0"/>
          </a:p>
        </p:txBody>
      </p:sp>
      <p:sp>
        <p:nvSpPr>
          <p:cNvPr id="21" name="Shape 17"/>
          <p:cNvSpPr/>
          <p:nvPr/>
        </p:nvSpPr>
        <p:spPr>
          <a:xfrm>
            <a:off x="274320" y="4334256"/>
            <a:ext cx="8595360" cy="566928"/>
          </a:xfrm>
          <a:prstGeom prst="rect">
            <a:avLst/>
          </a:prstGeom>
          <a:solidFill>
            <a:srgbClr val="1C2B5E"/>
          </a:solidFill>
          <a:ln/>
        </p:spPr>
      </p:sp>
      <p:sp>
        <p:nvSpPr>
          <p:cNvPr id="22" name="Text 18"/>
          <p:cNvSpPr/>
          <p:nvPr/>
        </p:nvSpPr>
        <p:spPr>
          <a:xfrm>
            <a:off x="457200" y="4407408"/>
            <a:ext cx="8321040" cy="384048"/>
          </a:xfrm>
          <a:prstGeom prst="rect">
            <a:avLst/>
          </a:prstGeom>
          <a:noFill/>
          <a:ln/>
        </p:spPr>
        <p:txBody>
          <a:bodyPr wrap="square" lIns="0" tIns="0" rIns="0" bIns="0" rtlCol="0" anchor="ctr"/>
          <a:lstStyle/>
          <a:p>
            <a:pPr indent="0" marL="0">
              <a:buNone/>
            </a:pPr>
            <a:r>
              <a:rPr lang="en-US" sz="950" dirty="0">
                <a:solidFill>
                  <a:srgbClr val="D97706"/>
                </a:solidFill>
                <a:latin typeface="Calibri" pitchFamily="34" charset="0"/>
                <a:ea typeface="Calibri" pitchFamily="34" charset="-122"/>
                <a:cs typeface="Calibri" pitchFamily="34" charset="-120"/>
              </a:rPr>
              <a:t>⚠️  FY2026 one-time item: INR 1,458 crore court-mandated executive wage provision (arrears Aug 2023–Dec 2025). Strips out to higher underlying PAT.</a:t>
            </a:r>
            <a:endParaRPr lang="en-US" sz="950" dirty="0"/>
          </a:p>
        </p:txBody>
      </p:sp>
      <p:sp>
        <p:nvSpPr>
          <p:cNvPr id="23" name="Text 19"/>
          <p:cNvSpPr/>
          <p:nvPr/>
        </p:nvSpPr>
        <p:spPr>
          <a:xfrm>
            <a:off x="8778240" y="4846320"/>
            <a:ext cx="274320" cy="182880"/>
          </a:xfrm>
          <a:prstGeom prst="rect">
            <a:avLst/>
          </a:prstGeom>
          <a:noFill/>
          <a:ln/>
        </p:spPr>
        <p:txBody>
          <a:bodyPr wrap="square" lIns="0" tIns="0" rIns="0" bIns="0" rtlCol="0" anchor="ctr"/>
          <a:lstStyle/>
          <a:p>
            <a:pPr algn="r" indent="0" marL="0">
              <a:buNone/>
            </a:pPr>
            <a:r>
              <a:rPr lang="en-US" sz="800" dirty="0">
                <a:solidFill>
                  <a:srgbClr val="64748B"/>
                </a:solidFill>
                <a:latin typeface="Calibri" pitchFamily="34" charset="0"/>
                <a:ea typeface="Calibri" pitchFamily="34" charset="-122"/>
                <a:cs typeface="Calibri"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C2B5E"/>
          </a:solidFill>
          <a:ln/>
        </p:spPr>
      </p:sp>
      <p:sp>
        <p:nvSpPr>
          <p:cNvPr id="3" name="Text 1"/>
          <p:cNvSpPr/>
          <p:nvPr/>
        </p:nvSpPr>
        <p:spPr>
          <a:xfrm>
            <a:off x="365760" y="73152"/>
            <a:ext cx="841248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MANAGEMENT COMMENTARY — What Coal India is telling the market</a:t>
            </a:r>
            <a:endParaRPr lang="en-US" sz="1300" dirty="0"/>
          </a:p>
        </p:txBody>
      </p:sp>
      <p:sp>
        <p:nvSpPr>
          <p:cNvPr id="4" name="Shape 2"/>
          <p:cNvSpPr/>
          <p:nvPr/>
        </p:nvSpPr>
        <p:spPr>
          <a:xfrm>
            <a:off x="274320" y="658368"/>
            <a:ext cx="8595360" cy="1417320"/>
          </a:xfrm>
          <a:prstGeom prst="rect">
            <a:avLst/>
          </a:prstGeom>
          <a:solidFill>
            <a:srgbClr val="1C2B5E"/>
          </a:solidFill>
          <a:ln/>
        </p:spPr>
      </p:sp>
      <p:sp>
        <p:nvSpPr>
          <p:cNvPr id="5" name="Shape 3"/>
          <p:cNvSpPr/>
          <p:nvPr/>
        </p:nvSpPr>
        <p:spPr>
          <a:xfrm>
            <a:off x="274320" y="658368"/>
            <a:ext cx="164592" cy="1417320"/>
          </a:xfrm>
          <a:prstGeom prst="rect">
            <a:avLst/>
          </a:prstGeom>
          <a:solidFill>
            <a:srgbClr val="D97706"/>
          </a:solidFill>
          <a:ln/>
        </p:spPr>
      </p:sp>
      <p:sp>
        <p:nvSpPr>
          <p:cNvPr id="6" name="Text 4"/>
          <p:cNvSpPr/>
          <p:nvPr/>
        </p:nvSpPr>
        <p:spPr>
          <a:xfrm>
            <a:off x="621792" y="768096"/>
            <a:ext cx="8092440" cy="1005840"/>
          </a:xfrm>
          <a:prstGeom prst="rect">
            <a:avLst/>
          </a:prstGeom>
          <a:noFill/>
          <a:ln/>
        </p:spPr>
        <p:txBody>
          <a:bodyPr wrap="square" lIns="0" tIns="0" rIns="0" bIns="0" rtlCol="0" anchor="ctr"/>
          <a:lstStyle/>
          <a:p>
            <a:pPr indent="0" marL="0">
              <a:buNone/>
            </a:pPr>
            <a:r>
              <a:rPr lang="en-US" sz="1200" i="1" dirty="0">
                <a:solidFill>
                  <a:srgbClr val="FFFFFF"/>
                </a:solidFill>
                <a:latin typeface="Calibri" pitchFamily="34" charset="0"/>
                <a:ea typeface="Calibri" pitchFamily="34" charset="-122"/>
                <a:cs typeface="Calibri" pitchFamily="34" charset="-120"/>
              </a:rPr>
              <a:t>"Production dispatch is expected to reach 810 million tonnes by FY2028. Q4 FY2026 PAT recovered strongly to INR 10,908 crore, and we remain committed to our dividend policy with a final dividend of INR 5.25 per share declared for FY2026."</a:t>
            </a:r>
            <a:endParaRPr lang="en-US" sz="1200" dirty="0"/>
          </a:p>
        </p:txBody>
      </p:sp>
      <p:sp>
        <p:nvSpPr>
          <p:cNvPr id="7" name="Text 5"/>
          <p:cNvSpPr/>
          <p:nvPr/>
        </p:nvSpPr>
        <p:spPr>
          <a:xfrm>
            <a:off x="621792" y="1719072"/>
            <a:ext cx="8092440" cy="201168"/>
          </a:xfrm>
          <a:prstGeom prst="rect">
            <a:avLst/>
          </a:prstGeom>
          <a:noFill/>
          <a:ln/>
        </p:spPr>
        <p:txBody>
          <a:bodyPr wrap="square" lIns="0" tIns="0" rIns="0" bIns="0" rtlCol="0" anchor="ctr"/>
          <a:lstStyle/>
          <a:p>
            <a:pPr indent="0" marL="0">
              <a:buNone/>
            </a:pPr>
            <a:r>
              <a:rPr lang="en-US" sz="900" dirty="0">
                <a:solidFill>
                  <a:srgbClr val="D97706"/>
                </a:solidFill>
                <a:latin typeface="Calibri" pitchFamily="34" charset="0"/>
                <a:ea typeface="Calibri" pitchFamily="34" charset="-122"/>
                <a:cs typeface="Calibri" pitchFamily="34" charset="-120"/>
              </a:rPr>
              <a:t>— Coal India Management, FY2026 Results Commentary</a:t>
            </a:r>
            <a:endParaRPr lang="en-US" sz="900" dirty="0"/>
          </a:p>
        </p:txBody>
      </p:sp>
      <p:sp>
        <p:nvSpPr>
          <p:cNvPr id="8" name="Shape 6"/>
          <p:cNvSpPr/>
          <p:nvPr/>
        </p:nvSpPr>
        <p:spPr>
          <a:xfrm>
            <a:off x="274320" y="2231136"/>
            <a:ext cx="2057400" cy="987552"/>
          </a:xfrm>
          <a:prstGeom prst="rect">
            <a:avLst/>
          </a:prstGeom>
          <a:solidFill>
            <a:srgbClr val="FFFFFF"/>
          </a:solidFill>
          <a:ln w="19050">
            <a:solidFill>
              <a:srgbClr val="D97706"/>
            </a:solidFill>
            <a:prstDash val="solid"/>
          </a:ln>
          <a:effectLst>
            <a:outerShdw sx="100000" sy="100000" kx="0" ky="0" algn="bl" rotWithShape="0" blurRad="101600" dist="38100" dir="8100000">
              <a:srgbClr val="000000">
                <a:alpha val="10000"/>
              </a:srgbClr>
            </a:outerShdw>
          </a:effectLst>
        </p:spPr>
      </p:sp>
      <p:sp>
        <p:nvSpPr>
          <p:cNvPr id="9" name="Text 7"/>
          <p:cNvSpPr/>
          <p:nvPr/>
        </p:nvSpPr>
        <p:spPr>
          <a:xfrm>
            <a:off x="384048" y="2304288"/>
            <a:ext cx="1874520"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Guidance Tone</a:t>
            </a:r>
            <a:endParaRPr lang="en-US" sz="850" dirty="0"/>
          </a:p>
        </p:txBody>
      </p:sp>
      <p:sp>
        <p:nvSpPr>
          <p:cNvPr id="10" name="Text 8"/>
          <p:cNvSpPr/>
          <p:nvPr/>
        </p:nvSpPr>
        <p:spPr>
          <a:xfrm>
            <a:off x="384048" y="2505456"/>
            <a:ext cx="1874520" cy="438912"/>
          </a:xfrm>
          <a:prstGeom prst="rect">
            <a:avLst/>
          </a:prstGeom>
          <a:noFill/>
          <a:ln/>
        </p:spPr>
        <p:txBody>
          <a:bodyPr wrap="square" lIns="0" tIns="0" rIns="0" bIns="0" rtlCol="0" anchor="ctr"/>
          <a:lstStyle/>
          <a:p>
            <a:pPr indent="0" marL="0">
              <a:buNone/>
            </a:pPr>
            <a:r>
              <a:rPr lang="en-US" sz="1300" b="1" dirty="0">
                <a:solidFill>
                  <a:srgbClr val="D97706"/>
                </a:solidFill>
                <a:latin typeface="Calibri" pitchFamily="34" charset="0"/>
                <a:ea typeface="Calibri" pitchFamily="34" charset="-122"/>
                <a:cs typeface="Calibri" pitchFamily="34" charset="-120"/>
              </a:rPr>
              <a:t>Cautious</a:t>
            </a:r>
            <a:endParaRPr lang="en-US" sz="1300" dirty="0"/>
          </a:p>
        </p:txBody>
      </p:sp>
      <p:sp>
        <p:nvSpPr>
          <p:cNvPr id="11" name="Shape 9"/>
          <p:cNvSpPr/>
          <p:nvPr/>
        </p:nvSpPr>
        <p:spPr>
          <a:xfrm>
            <a:off x="2468880" y="2231136"/>
            <a:ext cx="2057400" cy="987552"/>
          </a:xfrm>
          <a:prstGeom prst="rect">
            <a:avLst/>
          </a:prstGeom>
          <a:solidFill>
            <a:srgbClr val="FFFFFF"/>
          </a:solidFill>
          <a:ln w="19050">
            <a:solidFill>
              <a:srgbClr val="D97706"/>
            </a:solidFill>
            <a:prstDash val="solid"/>
          </a:ln>
          <a:effectLst>
            <a:outerShdw sx="100000" sy="100000" kx="0" ky="0" algn="bl" rotWithShape="0" blurRad="101600" dist="38100" dir="8100000">
              <a:srgbClr val="000000">
                <a:alpha val="10000"/>
              </a:srgbClr>
            </a:outerShdw>
          </a:effectLst>
        </p:spPr>
      </p:sp>
      <p:sp>
        <p:nvSpPr>
          <p:cNvPr id="12" name="Text 10"/>
          <p:cNvSpPr/>
          <p:nvPr/>
        </p:nvSpPr>
        <p:spPr>
          <a:xfrm>
            <a:off x="2578608" y="2304288"/>
            <a:ext cx="1874520"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One-time Items</a:t>
            </a:r>
            <a:endParaRPr lang="en-US" sz="850" dirty="0"/>
          </a:p>
        </p:txBody>
      </p:sp>
      <p:sp>
        <p:nvSpPr>
          <p:cNvPr id="13" name="Text 11"/>
          <p:cNvSpPr/>
          <p:nvPr/>
        </p:nvSpPr>
        <p:spPr>
          <a:xfrm>
            <a:off x="2578608" y="2505456"/>
            <a:ext cx="1874520" cy="438912"/>
          </a:xfrm>
          <a:prstGeom prst="rect">
            <a:avLst/>
          </a:prstGeom>
          <a:noFill/>
          <a:ln/>
        </p:spPr>
        <p:txBody>
          <a:bodyPr wrap="square" lIns="0" tIns="0" rIns="0" bIns="0" rtlCol="0" anchor="ctr"/>
          <a:lstStyle/>
          <a:p>
            <a:pPr indent="0" marL="0">
              <a:buNone/>
            </a:pPr>
            <a:r>
              <a:rPr lang="en-US" sz="1300" b="1" dirty="0">
                <a:solidFill>
                  <a:srgbClr val="D97706"/>
                </a:solidFill>
                <a:latin typeface="Calibri" pitchFamily="34" charset="0"/>
                <a:ea typeface="Calibri" pitchFamily="34" charset="-122"/>
                <a:cs typeface="Calibri" pitchFamily="34" charset="-120"/>
              </a:rPr>
              <a:t>INR 1,458Cr wage provision</a:t>
            </a:r>
            <a:endParaRPr lang="en-US" sz="1300" dirty="0"/>
          </a:p>
        </p:txBody>
      </p:sp>
      <p:sp>
        <p:nvSpPr>
          <p:cNvPr id="14" name="Shape 12"/>
          <p:cNvSpPr/>
          <p:nvPr/>
        </p:nvSpPr>
        <p:spPr>
          <a:xfrm>
            <a:off x="4663440" y="2231136"/>
            <a:ext cx="2057400" cy="987552"/>
          </a:xfrm>
          <a:prstGeom prst="rect">
            <a:avLst/>
          </a:prstGeom>
          <a:solidFill>
            <a:srgbClr val="FFFFFF"/>
          </a:solidFill>
          <a:ln w="19050">
            <a:solidFill>
              <a:srgbClr val="D97706"/>
            </a:solidFill>
            <a:prstDash val="solid"/>
          </a:ln>
          <a:effectLst>
            <a:outerShdw sx="100000" sy="100000" kx="0" ky="0" algn="bl" rotWithShape="0" blurRad="101600" dist="38100" dir="8100000">
              <a:srgbClr val="000000">
                <a:alpha val="10000"/>
              </a:srgbClr>
            </a:outerShdw>
          </a:effectLst>
        </p:spPr>
      </p:sp>
      <p:sp>
        <p:nvSpPr>
          <p:cNvPr id="15" name="Text 13"/>
          <p:cNvSpPr/>
          <p:nvPr/>
        </p:nvSpPr>
        <p:spPr>
          <a:xfrm>
            <a:off x="4773168" y="2304288"/>
            <a:ext cx="1874520"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Analyst Pushback</a:t>
            </a:r>
            <a:endParaRPr lang="en-US" sz="850" dirty="0"/>
          </a:p>
        </p:txBody>
      </p:sp>
      <p:sp>
        <p:nvSpPr>
          <p:cNvPr id="16" name="Text 14"/>
          <p:cNvSpPr/>
          <p:nvPr/>
        </p:nvSpPr>
        <p:spPr>
          <a:xfrm>
            <a:off x="4773168" y="2505456"/>
            <a:ext cx="1874520" cy="438912"/>
          </a:xfrm>
          <a:prstGeom prst="rect">
            <a:avLst/>
          </a:prstGeom>
          <a:noFill/>
          <a:ln/>
        </p:spPr>
        <p:txBody>
          <a:bodyPr wrap="square" lIns="0" tIns="0" rIns="0" bIns="0" rtlCol="0" anchor="ctr"/>
          <a:lstStyle/>
          <a:p>
            <a:pPr indent="0" marL="0">
              <a:buNone/>
            </a:pPr>
            <a:r>
              <a:rPr lang="en-US" sz="1300" b="1" dirty="0">
                <a:solidFill>
                  <a:srgbClr val="D97706"/>
                </a:solidFill>
                <a:latin typeface="Calibri" pitchFamily="34" charset="0"/>
                <a:ea typeface="Calibri" pitchFamily="34" charset="-122"/>
                <a:cs typeface="Calibri" pitchFamily="34" charset="-120"/>
              </a:rPr>
              <a:t>Moderate</a:t>
            </a:r>
            <a:endParaRPr lang="en-US" sz="1300" dirty="0"/>
          </a:p>
        </p:txBody>
      </p:sp>
      <p:sp>
        <p:nvSpPr>
          <p:cNvPr id="17" name="Shape 15"/>
          <p:cNvSpPr/>
          <p:nvPr/>
        </p:nvSpPr>
        <p:spPr>
          <a:xfrm>
            <a:off x="6858000" y="2231136"/>
            <a:ext cx="2057400" cy="987552"/>
          </a:xfrm>
          <a:prstGeom prst="rect">
            <a:avLst/>
          </a:prstGeom>
          <a:solidFill>
            <a:srgbClr val="FFFFFF"/>
          </a:solidFill>
          <a:ln w="19050">
            <a:solidFill>
              <a:srgbClr val="059669"/>
            </a:solidFill>
            <a:prstDash val="solid"/>
          </a:ln>
          <a:effectLst>
            <a:outerShdw sx="100000" sy="100000" kx="0" ky="0" algn="bl" rotWithShape="0" blurRad="101600" dist="38100" dir="8100000">
              <a:srgbClr val="000000">
                <a:alpha val="10000"/>
              </a:srgbClr>
            </a:outerShdw>
          </a:effectLst>
        </p:spPr>
      </p:sp>
      <p:sp>
        <p:nvSpPr>
          <p:cNvPr id="18" name="Text 16"/>
          <p:cNvSpPr/>
          <p:nvPr/>
        </p:nvSpPr>
        <p:spPr>
          <a:xfrm>
            <a:off x="6967728" y="2304288"/>
            <a:ext cx="1874520"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GAAP vs Adj Gap</a:t>
            </a:r>
            <a:endParaRPr lang="en-US" sz="850" dirty="0"/>
          </a:p>
        </p:txBody>
      </p:sp>
      <p:sp>
        <p:nvSpPr>
          <p:cNvPr id="19" name="Text 17"/>
          <p:cNvSpPr/>
          <p:nvPr/>
        </p:nvSpPr>
        <p:spPr>
          <a:xfrm>
            <a:off x="6967728" y="2505456"/>
            <a:ext cx="1874520" cy="438912"/>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Clean (no adj)</a:t>
            </a:r>
            <a:endParaRPr lang="en-US" sz="1300" dirty="0"/>
          </a:p>
        </p:txBody>
      </p:sp>
      <p:sp>
        <p:nvSpPr>
          <p:cNvPr id="20" name="Shape 18"/>
          <p:cNvSpPr/>
          <p:nvPr/>
        </p:nvSpPr>
        <p:spPr>
          <a:xfrm>
            <a:off x="274320" y="3346704"/>
            <a:ext cx="8595360" cy="150876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21" name="Text 19"/>
          <p:cNvSpPr/>
          <p:nvPr/>
        </p:nvSpPr>
        <p:spPr>
          <a:xfrm>
            <a:off x="457200" y="3438144"/>
            <a:ext cx="6400800" cy="201168"/>
          </a:xfrm>
          <a:prstGeom prst="rect">
            <a:avLst/>
          </a:prstGeom>
          <a:noFill/>
          <a:ln/>
        </p:spPr>
        <p:txBody>
          <a:bodyPr wrap="square" lIns="0" tIns="0" rIns="0" bIns="0" rtlCol="0" anchor="ctr"/>
          <a:lstStyle/>
          <a:p>
            <a:pPr indent="0" marL="0">
              <a:buNone/>
            </a:pPr>
            <a:r>
              <a:rPr lang="en-US" sz="900" b="1" spc="200" kern="0" dirty="0">
                <a:solidFill>
                  <a:srgbClr val="2D5BE3"/>
                </a:solidFill>
                <a:latin typeface="Calibri" pitchFamily="34" charset="0"/>
                <a:ea typeface="Calibri" pitchFamily="34" charset="-122"/>
                <a:cs typeface="Calibri" pitchFamily="34" charset="-120"/>
              </a:rPr>
              <a:t>ANALYST CONCERNS FROM FY2026 RESULTS</a:t>
            </a:r>
            <a:endParaRPr lang="en-US" sz="900" dirty="0"/>
          </a:p>
        </p:txBody>
      </p:sp>
      <p:sp>
        <p:nvSpPr>
          <p:cNvPr id="22" name="Text 20"/>
          <p:cNvSpPr/>
          <p:nvPr/>
        </p:nvSpPr>
        <p:spPr>
          <a:xfrm>
            <a:off x="457200" y="3675888"/>
            <a:ext cx="8229600" cy="1078992"/>
          </a:xfrm>
          <a:prstGeom prst="rect">
            <a:avLst/>
          </a:prstGeom>
          <a:noFill/>
          <a:ln/>
        </p:spPr>
        <p:txBody>
          <a:bodyPr wrap="square" lIns="0" tIns="0" rIns="0" bIns="0" rtlCol="0" anchor="ctr"/>
          <a:lstStyle/>
          <a:p>
            <a:pPr marL="342900" indent="-342900">
              <a:buSzPct val="100000"/>
              <a:buChar char="•"/>
            </a:pPr>
            <a:r>
              <a:rPr lang="en-US" sz="1050" dirty="0">
                <a:solidFill>
                  <a:srgbClr val="0F172A"/>
                </a:solidFill>
                <a:latin typeface="Calibri" pitchFamily="34" charset="0"/>
                <a:ea typeface="Calibri" pitchFamily="34" charset="-122"/>
                <a:cs typeface="Calibri" pitchFamily="34" charset="-120"/>
              </a:rPr>
              <a:t>Why are e-auction premiums compressing? Softer global coal prices reduce arbitrage opportunity</a:t>
            </a:r>
            <a:endParaRPr lang="en-US" sz="1050" dirty="0"/>
          </a:p>
          <a:p>
            <a:pPr marL="342900" indent="-342900">
              <a:buSzPct val="100000"/>
              <a:buChar char="•"/>
            </a:pPr>
            <a:r>
              <a:rPr lang="en-US" sz="1050" dirty="0">
                <a:solidFill>
                  <a:srgbClr val="0F172A"/>
                </a:solidFill>
                <a:latin typeface="Calibri" pitchFamily="34" charset="0"/>
                <a:ea typeface="Calibri" pitchFamily="34" charset="-122"/>
                <a:cs typeface="Calibri" pitchFamily="34" charset="-120"/>
              </a:rPr>
              <a:t>How does CIL protect margins as wages rise? Limited pricing flexibility under government oversight is the key constraint</a:t>
            </a:r>
            <a:endParaRPr lang="en-US" sz="1050" dirty="0"/>
          </a:p>
          <a:p>
            <a:pPr marL="342900" indent="-342900">
              <a:buSzPct val="100000"/>
              <a:buChar char="•"/>
            </a:pPr>
            <a:r>
              <a:rPr lang="en-US" sz="1050" dirty="0">
                <a:solidFill>
                  <a:srgbClr val="0F172A"/>
                </a:solidFill>
                <a:latin typeface="Calibri" pitchFamily="34" charset="0"/>
                <a:ea typeface="Calibri" pitchFamily="34" charset="-122"/>
                <a:cs typeface="Calibri" pitchFamily="34" charset="-120"/>
              </a:rPr>
              <a:t>What is the impact of government divestment? INR 8,800 crore planned stake sale creates supply overhang on the stock</a:t>
            </a:r>
            <a:endParaRPr lang="en-US" sz="1050" dirty="0"/>
          </a:p>
        </p:txBody>
      </p:sp>
      <p:sp>
        <p:nvSpPr>
          <p:cNvPr id="23" name="Text 21"/>
          <p:cNvSpPr/>
          <p:nvPr/>
        </p:nvSpPr>
        <p:spPr>
          <a:xfrm>
            <a:off x="8778240" y="4846320"/>
            <a:ext cx="274320" cy="182880"/>
          </a:xfrm>
          <a:prstGeom prst="rect">
            <a:avLst/>
          </a:prstGeom>
          <a:noFill/>
          <a:ln/>
        </p:spPr>
        <p:txBody>
          <a:bodyPr wrap="square" lIns="0" tIns="0" rIns="0" bIns="0" rtlCol="0" anchor="ctr"/>
          <a:lstStyle/>
          <a:p>
            <a:pPr algn="r" indent="0" marL="0">
              <a:buNone/>
            </a:pPr>
            <a:r>
              <a:rPr lang="en-US" sz="800" dirty="0">
                <a:solidFill>
                  <a:srgbClr val="64748B"/>
                </a:solidFill>
                <a:latin typeface="Calibri" pitchFamily="34" charset="0"/>
                <a:ea typeface="Calibri" pitchFamily="34" charset="-122"/>
                <a:cs typeface="Calibri"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C2B5E"/>
          </a:solidFill>
          <a:ln/>
        </p:spPr>
      </p:sp>
      <p:sp>
        <p:nvSpPr>
          <p:cNvPr id="3" name="Text 1"/>
          <p:cNvSpPr/>
          <p:nvPr/>
        </p:nvSpPr>
        <p:spPr>
          <a:xfrm>
            <a:off x="365760" y="73152"/>
            <a:ext cx="841248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MANAGEMENT &amp; BALANCE SHEET — PSU governance + pristine financials</a:t>
            </a:r>
            <a:endParaRPr lang="en-US" sz="1300" dirty="0"/>
          </a:p>
        </p:txBody>
      </p:sp>
      <p:sp>
        <p:nvSpPr>
          <p:cNvPr id="4" name="Shape 2"/>
          <p:cNvSpPr/>
          <p:nvPr/>
        </p:nvSpPr>
        <p:spPr>
          <a:xfrm>
            <a:off x="274320" y="658368"/>
            <a:ext cx="2029968" cy="987552"/>
          </a:xfrm>
          <a:prstGeom prst="rect">
            <a:avLst/>
          </a:prstGeom>
          <a:solidFill>
            <a:srgbClr val="FFFFFF"/>
          </a:solidFill>
          <a:ln w="12700">
            <a:solidFill>
              <a:srgbClr val="D6E4FF"/>
            </a:solidFill>
            <a:prstDash val="solid"/>
          </a:ln>
          <a:effectLst>
            <a:outerShdw sx="100000" sy="100000" kx="0" ky="0" algn="bl" rotWithShape="0" blurRad="101600" dist="38100" dir="8100000">
              <a:srgbClr val="000000">
                <a:alpha val="10000"/>
              </a:srgbClr>
            </a:outerShdw>
          </a:effectLst>
        </p:spPr>
      </p:sp>
      <p:sp>
        <p:nvSpPr>
          <p:cNvPr id="5" name="Text 3"/>
          <p:cNvSpPr/>
          <p:nvPr/>
        </p:nvSpPr>
        <p:spPr>
          <a:xfrm>
            <a:off x="438912" y="786384"/>
            <a:ext cx="1755648"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Promoter (Govt)</a:t>
            </a:r>
            <a:endParaRPr lang="en-US" sz="850" dirty="0"/>
          </a:p>
        </p:txBody>
      </p:sp>
      <p:sp>
        <p:nvSpPr>
          <p:cNvPr id="6" name="Text 4"/>
          <p:cNvSpPr/>
          <p:nvPr/>
        </p:nvSpPr>
        <p:spPr>
          <a:xfrm>
            <a:off x="438912" y="987552"/>
            <a:ext cx="1755648" cy="347472"/>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63.1%</a:t>
            </a:r>
            <a:endParaRPr lang="en-US" sz="1800" dirty="0"/>
          </a:p>
        </p:txBody>
      </p:sp>
      <p:sp>
        <p:nvSpPr>
          <p:cNvPr id="7" name="Text 5"/>
          <p:cNvSpPr/>
          <p:nvPr/>
        </p:nvSpPr>
        <p:spPr>
          <a:xfrm>
            <a:off x="438912" y="1335024"/>
            <a:ext cx="1755648" cy="164592"/>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No pledging — 0%</a:t>
            </a:r>
            <a:endParaRPr lang="en-US" sz="800" dirty="0"/>
          </a:p>
        </p:txBody>
      </p:sp>
      <p:sp>
        <p:nvSpPr>
          <p:cNvPr id="8" name="Shape 6"/>
          <p:cNvSpPr/>
          <p:nvPr/>
        </p:nvSpPr>
        <p:spPr>
          <a:xfrm>
            <a:off x="2468880" y="658368"/>
            <a:ext cx="2029968" cy="987552"/>
          </a:xfrm>
          <a:prstGeom prst="rect">
            <a:avLst/>
          </a:prstGeom>
          <a:solidFill>
            <a:srgbClr val="FFFFFF"/>
          </a:solidFill>
          <a:ln w="12700">
            <a:solidFill>
              <a:srgbClr val="D6E4FF"/>
            </a:solidFill>
            <a:prstDash val="solid"/>
          </a:ln>
          <a:effectLst>
            <a:outerShdw sx="100000" sy="100000" kx="0" ky="0" algn="bl" rotWithShape="0" blurRad="101600" dist="38100" dir="8100000">
              <a:srgbClr val="000000">
                <a:alpha val="10000"/>
              </a:srgbClr>
            </a:outerShdw>
          </a:effectLst>
        </p:spPr>
      </p:sp>
      <p:sp>
        <p:nvSpPr>
          <p:cNvPr id="9" name="Text 7"/>
          <p:cNvSpPr/>
          <p:nvPr/>
        </p:nvSpPr>
        <p:spPr>
          <a:xfrm>
            <a:off x="2633472" y="786384"/>
            <a:ext cx="1755648"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Dividend Payout</a:t>
            </a:r>
            <a:endParaRPr lang="en-US" sz="850" dirty="0"/>
          </a:p>
        </p:txBody>
      </p:sp>
      <p:sp>
        <p:nvSpPr>
          <p:cNvPr id="10" name="Text 8"/>
          <p:cNvSpPr/>
          <p:nvPr/>
        </p:nvSpPr>
        <p:spPr>
          <a:xfrm>
            <a:off x="2633472" y="987552"/>
            <a:ext cx="1755648" cy="347472"/>
          </a:xfrm>
          <a:prstGeom prst="rect">
            <a:avLst/>
          </a:prstGeom>
          <a:noFill/>
          <a:ln/>
        </p:spPr>
        <p:txBody>
          <a:bodyPr wrap="square" lIns="0" tIns="0" rIns="0" bIns="0" rtlCol="0" anchor="ctr"/>
          <a:lstStyle/>
          <a:p>
            <a:pPr indent="0" marL="0">
              <a:buNone/>
            </a:pPr>
            <a:r>
              <a:rPr lang="en-US" sz="1800" b="1" dirty="0">
                <a:solidFill>
                  <a:srgbClr val="1C2B5E"/>
                </a:solidFill>
                <a:latin typeface="Calibri" pitchFamily="34" charset="0"/>
                <a:ea typeface="Calibri" pitchFamily="34" charset="-122"/>
                <a:cs typeface="Calibri" pitchFamily="34" charset="-120"/>
              </a:rPr>
              <a:t>45.1%</a:t>
            </a:r>
            <a:endParaRPr lang="en-US" sz="1800" dirty="0"/>
          </a:p>
        </p:txBody>
      </p:sp>
      <p:sp>
        <p:nvSpPr>
          <p:cNvPr id="11" name="Text 9"/>
          <p:cNvSpPr/>
          <p:nvPr/>
        </p:nvSpPr>
        <p:spPr>
          <a:xfrm>
            <a:off x="2633472" y="1335024"/>
            <a:ext cx="1755648" cy="164592"/>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INR 15.5/share FY2026</a:t>
            </a:r>
            <a:endParaRPr lang="en-US" sz="800" dirty="0"/>
          </a:p>
        </p:txBody>
      </p:sp>
      <p:sp>
        <p:nvSpPr>
          <p:cNvPr id="12" name="Shape 10"/>
          <p:cNvSpPr/>
          <p:nvPr/>
        </p:nvSpPr>
        <p:spPr>
          <a:xfrm>
            <a:off x="4663440" y="658368"/>
            <a:ext cx="2029968" cy="987552"/>
          </a:xfrm>
          <a:prstGeom prst="rect">
            <a:avLst/>
          </a:prstGeom>
          <a:solidFill>
            <a:srgbClr val="FFFFFF"/>
          </a:solidFill>
          <a:ln w="12700">
            <a:solidFill>
              <a:srgbClr val="D6E4FF"/>
            </a:solidFill>
            <a:prstDash val="solid"/>
          </a:ln>
          <a:effectLst>
            <a:outerShdw sx="100000" sy="100000" kx="0" ky="0" algn="bl" rotWithShape="0" blurRad="101600" dist="38100" dir="8100000">
              <a:srgbClr val="000000">
                <a:alpha val="10000"/>
              </a:srgbClr>
            </a:outerShdw>
          </a:effectLst>
        </p:spPr>
      </p:sp>
      <p:sp>
        <p:nvSpPr>
          <p:cNvPr id="13" name="Text 11"/>
          <p:cNvSpPr/>
          <p:nvPr/>
        </p:nvSpPr>
        <p:spPr>
          <a:xfrm>
            <a:off x="4828032" y="786384"/>
            <a:ext cx="1755648"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Govt Divestment</a:t>
            </a:r>
            <a:endParaRPr lang="en-US" sz="850" dirty="0"/>
          </a:p>
        </p:txBody>
      </p:sp>
      <p:sp>
        <p:nvSpPr>
          <p:cNvPr id="14" name="Text 12"/>
          <p:cNvSpPr/>
          <p:nvPr/>
        </p:nvSpPr>
        <p:spPr>
          <a:xfrm>
            <a:off x="4828032" y="987552"/>
            <a:ext cx="1755648" cy="347472"/>
          </a:xfrm>
          <a:prstGeom prst="rect">
            <a:avLst/>
          </a:prstGeom>
          <a:noFill/>
          <a:ln/>
        </p:spPr>
        <p:txBody>
          <a:bodyPr wrap="square" lIns="0" tIns="0" rIns="0" bIns="0" rtlCol="0" anchor="ctr"/>
          <a:lstStyle/>
          <a:p>
            <a:pPr indent="0" marL="0">
              <a:buNone/>
            </a:pPr>
            <a:r>
              <a:rPr lang="en-US" sz="1800" b="1" dirty="0">
                <a:solidFill>
                  <a:srgbClr val="D97706"/>
                </a:solidFill>
                <a:latin typeface="Calibri" pitchFamily="34" charset="0"/>
                <a:ea typeface="Calibri" pitchFamily="34" charset="-122"/>
                <a:cs typeface="Calibri" pitchFamily="34" charset="-120"/>
              </a:rPr>
              <a:t>INR 8,800Cr</a:t>
            </a:r>
            <a:endParaRPr lang="en-US" sz="1800" dirty="0"/>
          </a:p>
        </p:txBody>
      </p:sp>
      <p:sp>
        <p:nvSpPr>
          <p:cNvPr id="15" name="Text 13"/>
          <p:cNvSpPr/>
          <p:nvPr/>
        </p:nvSpPr>
        <p:spPr>
          <a:xfrm>
            <a:off x="4828032" y="1335024"/>
            <a:ext cx="1755648" cy="164592"/>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Planned stake sale risk</a:t>
            </a:r>
            <a:endParaRPr lang="en-US" sz="800" dirty="0"/>
          </a:p>
        </p:txBody>
      </p:sp>
      <p:sp>
        <p:nvSpPr>
          <p:cNvPr id="16" name="Shape 14"/>
          <p:cNvSpPr/>
          <p:nvPr/>
        </p:nvSpPr>
        <p:spPr>
          <a:xfrm>
            <a:off x="6858000" y="658368"/>
            <a:ext cx="2029968" cy="987552"/>
          </a:xfrm>
          <a:prstGeom prst="rect">
            <a:avLst/>
          </a:prstGeom>
          <a:solidFill>
            <a:srgbClr val="FFFFFF"/>
          </a:solidFill>
          <a:ln w="12700">
            <a:solidFill>
              <a:srgbClr val="D6E4FF"/>
            </a:solidFill>
            <a:prstDash val="solid"/>
          </a:ln>
          <a:effectLst>
            <a:outerShdw sx="100000" sy="100000" kx="0" ky="0" algn="bl" rotWithShape="0" blurRad="101600" dist="38100" dir="8100000">
              <a:srgbClr val="000000">
                <a:alpha val="10000"/>
              </a:srgbClr>
            </a:outerShdw>
          </a:effectLst>
        </p:spPr>
      </p:sp>
      <p:sp>
        <p:nvSpPr>
          <p:cNvPr id="17" name="Text 15"/>
          <p:cNvSpPr/>
          <p:nvPr/>
        </p:nvSpPr>
        <p:spPr>
          <a:xfrm>
            <a:off x="7022592" y="786384"/>
            <a:ext cx="1755648"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ROCE</a:t>
            </a:r>
            <a:endParaRPr lang="en-US" sz="850" dirty="0"/>
          </a:p>
        </p:txBody>
      </p:sp>
      <p:sp>
        <p:nvSpPr>
          <p:cNvPr id="18" name="Text 16"/>
          <p:cNvSpPr/>
          <p:nvPr/>
        </p:nvSpPr>
        <p:spPr>
          <a:xfrm>
            <a:off x="7022592" y="987552"/>
            <a:ext cx="1755648" cy="347472"/>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35.3%</a:t>
            </a:r>
            <a:endParaRPr lang="en-US" sz="1800" dirty="0"/>
          </a:p>
        </p:txBody>
      </p:sp>
      <p:sp>
        <p:nvSpPr>
          <p:cNvPr id="19" name="Text 17"/>
          <p:cNvSpPr/>
          <p:nvPr/>
        </p:nvSpPr>
        <p:spPr>
          <a:xfrm>
            <a:off x="7022592" y="1335024"/>
            <a:ext cx="1755648" cy="164592"/>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Exceptional for mining</a:t>
            </a:r>
            <a:endParaRPr lang="en-US" sz="800" dirty="0"/>
          </a:p>
        </p:txBody>
      </p:sp>
      <p:sp>
        <p:nvSpPr>
          <p:cNvPr id="20" name="Shape 18"/>
          <p:cNvSpPr/>
          <p:nvPr/>
        </p:nvSpPr>
        <p:spPr>
          <a:xfrm>
            <a:off x="274320" y="1792224"/>
            <a:ext cx="8595360" cy="77724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21" name="Text 19"/>
          <p:cNvSpPr/>
          <p:nvPr/>
        </p:nvSpPr>
        <p:spPr>
          <a:xfrm>
            <a:off x="457200" y="1883664"/>
            <a:ext cx="3657600" cy="201168"/>
          </a:xfrm>
          <a:prstGeom prst="rect">
            <a:avLst/>
          </a:prstGeom>
          <a:noFill/>
          <a:ln/>
        </p:spPr>
        <p:txBody>
          <a:bodyPr wrap="square" lIns="0" tIns="0" rIns="0" bIns="0" rtlCol="0" anchor="ctr"/>
          <a:lstStyle/>
          <a:p>
            <a:pPr indent="0" marL="0">
              <a:buNone/>
            </a:pPr>
            <a:r>
              <a:rPr lang="en-US" sz="900" b="1" spc="200" kern="0" dirty="0">
                <a:solidFill>
                  <a:srgbClr val="2D5BE3"/>
                </a:solidFill>
                <a:latin typeface="Calibri" pitchFamily="34" charset="0"/>
                <a:ea typeface="Calibri" pitchFamily="34" charset="-122"/>
                <a:cs typeface="Calibri" pitchFamily="34" charset="-120"/>
              </a:rPr>
              <a:t>CAPITAL ALLOCATION</a:t>
            </a:r>
            <a:endParaRPr lang="en-US" sz="900" dirty="0"/>
          </a:p>
        </p:txBody>
      </p:sp>
      <p:sp>
        <p:nvSpPr>
          <p:cNvPr id="22" name="Text 20"/>
          <p:cNvSpPr/>
          <p:nvPr/>
        </p:nvSpPr>
        <p:spPr>
          <a:xfrm>
            <a:off x="457200" y="2103120"/>
            <a:ext cx="8229600" cy="384048"/>
          </a:xfrm>
          <a:prstGeom prst="rect">
            <a:avLst/>
          </a:prstGeom>
          <a:noFill/>
          <a:ln/>
        </p:spPr>
        <p:txBody>
          <a:bodyPr wrap="square" lIns="0" tIns="0" rIns="0" bIns="0" rtlCol="0" anchor="ctr"/>
          <a:lstStyle/>
          <a:p>
            <a:pPr indent="0" marL="0">
              <a:buNone/>
            </a:pPr>
            <a:r>
              <a:rPr lang="en-US" sz="1100" dirty="0">
                <a:solidFill>
                  <a:srgbClr val="0F172A"/>
                </a:solidFill>
                <a:latin typeface="Calibri" pitchFamily="34" charset="0"/>
                <a:ea typeface="Calibri" pitchFamily="34" charset="-122"/>
                <a:cs typeface="Calibri" pitchFamily="34" charset="-120"/>
              </a:rPr>
              <a:t>Strong dividend payout — 45.1% payout ratio, INR 15.5/share total FY2026. Zero debt. Consistent capital return to shareholders across all cycles.</a:t>
            </a:r>
            <a:endParaRPr lang="en-US" sz="1100" dirty="0"/>
          </a:p>
        </p:txBody>
      </p:sp>
      <p:sp>
        <p:nvSpPr>
          <p:cNvPr id="23" name="Shape 21"/>
          <p:cNvSpPr/>
          <p:nvPr/>
        </p:nvSpPr>
        <p:spPr>
          <a:xfrm>
            <a:off x="274320" y="2706624"/>
            <a:ext cx="2029968" cy="987552"/>
          </a:xfrm>
          <a:prstGeom prst="rect">
            <a:avLst/>
          </a:prstGeom>
          <a:solidFill>
            <a:srgbClr val="FFFFFF"/>
          </a:solidFill>
          <a:ln w="12700">
            <a:solidFill>
              <a:srgbClr val="D6E4FF"/>
            </a:solidFill>
            <a:prstDash val="solid"/>
          </a:ln>
          <a:effectLst>
            <a:outerShdw sx="100000" sy="100000" kx="0" ky="0" algn="bl" rotWithShape="0" blurRad="101600" dist="38100" dir="8100000">
              <a:srgbClr val="000000">
                <a:alpha val="10000"/>
              </a:srgbClr>
            </a:outerShdw>
          </a:effectLst>
        </p:spPr>
      </p:sp>
      <p:sp>
        <p:nvSpPr>
          <p:cNvPr id="24" name="Text 22"/>
          <p:cNvSpPr/>
          <p:nvPr/>
        </p:nvSpPr>
        <p:spPr>
          <a:xfrm>
            <a:off x="438912" y="2834640"/>
            <a:ext cx="1755648"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Net Debt / EBITDA</a:t>
            </a:r>
            <a:endParaRPr lang="en-US" sz="850" dirty="0"/>
          </a:p>
        </p:txBody>
      </p:sp>
      <p:sp>
        <p:nvSpPr>
          <p:cNvPr id="25" name="Text 23"/>
          <p:cNvSpPr/>
          <p:nvPr/>
        </p:nvSpPr>
        <p:spPr>
          <a:xfrm>
            <a:off x="438912" y="3035808"/>
            <a:ext cx="1755648" cy="347472"/>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0.1x</a:t>
            </a:r>
            <a:endParaRPr lang="en-US" sz="1800" dirty="0"/>
          </a:p>
        </p:txBody>
      </p:sp>
      <p:sp>
        <p:nvSpPr>
          <p:cNvPr id="26" name="Text 24"/>
          <p:cNvSpPr/>
          <p:nvPr/>
        </p:nvSpPr>
        <p:spPr>
          <a:xfrm>
            <a:off x="438912" y="3383280"/>
            <a:ext cx="1755648" cy="164592"/>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Safe zone: &lt;2x</a:t>
            </a:r>
            <a:endParaRPr lang="en-US" sz="800" dirty="0"/>
          </a:p>
        </p:txBody>
      </p:sp>
      <p:sp>
        <p:nvSpPr>
          <p:cNvPr id="27" name="Shape 25"/>
          <p:cNvSpPr/>
          <p:nvPr/>
        </p:nvSpPr>
        <p:spPr>
          <a:xfrm>
            <a:off x="2468880" y="2706624"/>
            <a:ext cx="2029968" cy="987552"/>
          </a:xfrm>
          <a:prstGeom prst="rect">
            <a:avLst/>
          </a:prstGeom>
          <a:solidFill>
            <a:srgbClr val="FFFFFF"/>
          </a:solidFill>
          <a:ln w="12700">
            <a:solidFill>
              <a:srgbClr val="D6E4FF"/>
            </a:solidFill>
            <a:prstDash val="solid"/>
          </a:ln>
          <a:effectLst>
            <a:outerShdw sx="100000" sy="100000" kx="0" ky="0" algn="bl" rotWithShape="0" blurRad="101600" dist="38100" dir="8100000">
              <a:srgbClr val="000000">
                <a:alpha val="10000"/>
              </a:srgbClr>
            </a:outerShdw>
          </a:effectLst>
        </p:spPr>
      </p:sp>
      <p:sp>
        <p:nvSpPr>
          <p:cNvPr id="28" name="Text 26"/>
          <p:cNvSpPr/>
          <p:nvPr/>
        </p:nvSpPr>
        <p:spPr>
          <a:xfrm>
            <a:off x="2633472" y="2834640"/>
            <a:ext cx="1755648"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Interest Coverage</a:t>
            </a:r>
            <a:endParaRPr lang="en-US" sz="850" dirty="0"/>
          </a:p>
        </p:txBody>
      </p:sp>
      <p:sp>
        <p:nvSpPr>
          <p:cNvPr id="29" name="Text 27"/>
          <p:cNvSpPr/>
          <p:nvPr/>
        </p:nvSpPr>
        <p:spPr>
          <a:xfrm>
            <a:off x="2633472" y="3035808"/>
            <a:ext cx="1755648" cy="347472"/>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35.5x</a:t>
            </a:r>
            <a:endParaRPr lang="en-US" sz="1800" dirty="0"/>
          </a:p>
        </p:txBody>
      </p:sp>
      <p:sp>
        <p:nvSpPr>
          <p:cNvPr id="30" name="Text 28"/>
          <p:cNvSpPr/>
          <p:nvPr/>
        </p:nvSpPr>
        <p:spPr>
          <a:xfrm>
            <a:off x="2633472" y="3383280"/>
            <a:ext cx="1755648" cy="164592"/>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Safe zone: &gt;5x</a:t>
            </a:r>
            <a:endParaRPr lang="en-US" sz="800" dirty="0"/>
          </a:p>
        </p:txBody>
      </p:sp>
      <p:sp>
        <p:nvSpPr>
          <p:cNvPr id="31" name="Shape 29"/>
          <p:cNvSpPr/>
          <p:nvPr/>
        </p:nvSpPr>
        <p:spPr>
          <a:xfrm>
            <a:off x="4663440" y="2706624"/>
            <a:ext cx="2029968" cy="987552"/>
          </a:xfrm>
          <a:prstGeom prst="rect">
            <a:avLst/>
          </a:prstGeom>
          <a:solidFill>
            <a:srgbClr val="FFFFFF"/>
          </a:solidFill>
          <a:ln w="12700">
            <a:solidFill>
              <a:srgbClr val="D6E4FF"/>
            </a:solidFill>
            <a:prstDash val="solid"/>
          </a:ln>
          <a:effectLst>
            <a:outerShdw sx="100000" sy="100000" kx="0" ky="0" algn="bl" rotWithShape="0" blurRad="101600" dist="38100" dir="8100000">
              <a:srgbClr val="000000">
                <a:alpha val="10000"/>
              </a:srgbClr>
            </a:outerShdw>
          </a:effectLst>
        </p:spPr>
      </p:sp>
      <p:sp>
        <p:nvSpPr>
          <p:cNvPr id="32" name="Text 30"/>
          <p:cNvSpPr/>
          <p:nvPr/>
        </p:nvSpPr>
        <p:spPr>
          <a:xfrm>
            <a:off x="4828032" y="2834640"/>
            <a:ext cx="1755648"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Current Ratio</a:t>
            </a:r>
            <a:endParaRPr lang="en-US" sz="850" dirty="0"/>
          </a:p>
        </p:txBody>
      </p:sp>
      <p:sp>
        <p:nvSpPr>
          <p:cNvPr id="33" name="Text 31"/>
          <p:cNvSpPr/>
          <p:nvPr/>
        </p:nvSpPr>
        <p:spPr>
          <a:xfrm>
            <a:off x="4828032" y="3035808"/>
            <a:ext cx="1755648" cy="347472"/>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~1.8x</a:t>
            </a:r>
            <a:endParaRPr lang="en-US" sz="1800" dirty="0"/>
          </a:p>
        </p:txBody>
      </p:sp>
      <p:sp>
        <p:nvSpPr>
          <p:cNvPr id="34" name="Text 32"/>
          <p:cNvSpPr/>
          <p:nvPr/>
        </p:nvSpPr>
        <p:spPr>
          <a:xfrm>
            <a:off x="4828032" y="3383280"/>
            <a:ext cx="1755648" cy="164592"/>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Safe zone: &gt;1.5x</a:t>
            </a:r>
            <a:endParaRPr lang="en-US" sz="800" dirty="0"/>
          </a:p>
        </p:txBody>
      </p:sp>
      <p:sp>
        <p:nvSpPr>
          <p:cNvPr id="35" name="Shape 33"/>
          <p:cNvSpPr/>
          <p:nvPr/>
        </p:nvSpPr>
        <p:spPr>
          <a:xfrm>
            <a:off x="6858000" y="2706624"/>
            <a:ext cx="2029968" cy="987552"/>
          </a:xfrm>
          <a:prstGeom prst="rect">
            <a:avLst/>
          </a:prstGeom>
          <a:solidFill>
            <a:srgbClr val="FFFFFF"/>
          </a:solidFill>
          <a:ln w="12700">
            <a:solidFill>
              <a:srgbClr val="D6E4FF"/>
            </a:solidFill>
            <a:prstDash val="solid"/>
          </a:ln>
          <a:effectLst>
            <a:outerShdw sx="100000" sy="100000" kx="0" ky="0" algn="bl" rotWithShape="0" blurRad="101600" dist="38100" dir="8100000">
              <a:srgbClr val="000000">
                <a:alpha val="10000"/>
              </a:srgbClr>
            </a:outerShdw>
          </a:effectLst>
        </p:spPr>
      </p:sp>
      <p:sp>
        <p:nvSpPr>
          <p:cNvPr id="36" name="Text 34"/>
          <p:cNvSpPr/>
          <p:nvPr/>
        </p:nvSpPr>
        <p:spPr>
          <a:xfrm>
            <a:off x="7022592" y="2834640"/>
            <a:ext cx="1755648" cy="201168"/>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Goodwill / Assets</a:t>
            </a:r>
            <a:endParaRPr lang="en-US" sz="850" dirty="0"/>
          </a:p>
        </p:txBody>
      </p:sp>
      <p:sp>
        <p:nvSpPr>
          <p:cNvPr id="37" name="Text 35"/>
          <p:cNvSpPr/>
          <p:nvPr/>
        </p:nvSpPr>
        <p:spPr>
          <a:xfrm>
            <a:off x="7022592" y="3035808"/>
            <a:ext cx="1755648" cy="347472"/>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~0%</a:t>
            </a:r>
            <a:endParaRPr lang="en-US" sz="1800" dirty="0"/>
          </a:p>
        </p:txBody>
      </p:sp>
      <p:sp>
        <p:nvSpPr>
          <p:cNvPr id="38" name="Text 36"/>
          <p:cNvSpPr/>
          <p:nvPr/>
        </p:nvSpPr>
        <p:spPr>
          <a:xfrm>
            <a:off x="7022592" y="3383280"/>
            <a:ext cx="1755648" cy="164592"/>
          </a:xfrm>
          <a:prstGeom prst="rect">
            <a:avLst/>
          </a:prstGeom>
          <a:noFill/>
          <a:ln/>
        </p:spPr>
        <p:txBody>
          <a:bodyPr wrap="square" lIns="0" tIns="0" rIns="0" bIns="0" rtlCol="0" anchor="ctr"/>
          <a:lstStyle/>
          <a:p>
            <a:pPr indent="0" marL="0">
              <a:buNone/>
            </a:pPr>
            <a:r>
              <a:rPr lang="en-US" sz="800" dirty="0">
                <a:solidFill>
                  <a:srgbClr val="64748B"/>
                </a:solidFill>
                <a:latin typeface="Calibri" pitchFamily="34" charset="0"/>
                <a:ea typeface="Calibri" pitchFamily="34" charset="-122"/>
                <a:cs typeface="Calibri" pitchFamily="34" charset="-120"/>
              </a:rPr>
              <a:t>No acquisition risk</a:t>
            </a:r>
            <a:endParaRPr lang="en-US" sz="800" dirty="0"/>
          </a:p>
        </p:txBody>
      </p:sp>
      <p:sp>
        <p:nvSpPr>
          <p:cNvPr id="39" name="Shape 37"/>
          <p:cNvSpPr/>
          <p:nvPr/>
        </p:nvSpPr>
        <p:spPr>
          <a:xfrm>
            <a:off x="274320" y="3822192"/>
            <a:ext cx="8595360" cy="1051560"/>
          </a:xfrm>
          <a:prstGeom prst="rect">
            <a:avLst/>
          </a:prstGeom>
          <a:solidFill>
            <a:srgbClr val="1C2B5E"/>
          </a:solidFill>
          <a:ln/>
        </p:spPr>
      </p:sp>
      <p:sp>
        <p:nvSpPr>
          <p:cNvPr id="40" name="Text 38"/>
          <p:cNvSpPr/>
          <p:nvPr/>
        </p:nvSpPr>
        <p:spPr>
          <a:xfrm>
            <a:off x="457200" y="3913632"/>
            <a:ext cx="8229600" cy="201168"/>
          </a:xfrm>
          <a:prstGeom prst="rect">
            <a:avLst/>
          </a:prstGeom>
          <a:noFill/>
          <a:ln/>
        </p:spPr>
        <p:txBody>
          <a:bodyPr wrap="square" lIns="0" tIns="0" rIns="0" bIns="0" rtlCol="0" anchor="ctr"/>
          <a:lstStyle/>
          <a:p>
            <a:pPr indent="0" marL="0">
              <a:buNone/>
            </a:pPr>
            <a:r>
              <a:rPr lang="en-US" sz="900" b="1" spc="200" kern="0" dirty="0">
                <a:solidFill>
                  <a:srgbClr val="059669"/>
                </a:solidFill>
                <a:latin typeface="Calibri" pitchFamily="34" charset="0"/>
                <a:ea typeface="Calibri" pitchFamily="34" charset="-122"/>
                <a:cs typeface="Calibri" pitchFamily="34" charset="-120"/>
              </a:rPr>
              <a:t>BALANCE SHEET VERDICT: PRISTINE</a:t>
            </a:r>
            <a:endParaRPr lang="en-US" sz="900" dirty="0"/>
          </a:p>
        </p:txBody>
      </p:sp>
      <p:sp>
        <p:nvSpPr>
          <p:cNvPr id="41" name="Text 39"/>
          <p:cNvSpPr/>
          <p:nvPr/>
        </p:nvSpPr>
        <p:spPr>
          <a:xfrm>
            <a:off x="457200" y="4133088"/>
            <a:ext cx="8229600" cy="621792"/>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No material near-term debt maturities. Balance sheet is pristine with near-zero leverage. Self-funds all capex from operating cash flows.</a:t>
            </a:r>
            <a:endParaRPr lang="en-US" sz="1050" dirty="0"/>
          </a:p>
        </p:txBody>
      </p:sp>
      <p:sp>
        <p:nvSpPr>
          <p:cNvPr id="42" name="Text 40"/>
          <p:cNvSpPr/>
          <p:nvPr/>
        </p:nvSpPr>
        <p:spPr>
          <a:xfrm>
            <a:off x="8778240" y="4846320"/>
            <a:ext cx="274320" cy="182880"/>
          </a:xfrm>
          <a:prstGeom prst="rect">
            <a:avLst/>
          </a:prstGeom>
          <a:noFill/>
          <a:ln/>
        </p:spPr>
        <p:txBody>
          <a:bodyPr wrap="square" lIns="0" tIns="0" rIns="0" bIns="0" rtlCol="0" anchor="ctr"/>
          <a:lstStyle/>
          <a:p>
            <a:pPr algn="r" indent="0" marL="0">
              <a:buNone/>
            </a:pPr>
            <a:r>
              <a:rPr lang="en-US" sz="800" dirty="0">
                <a:solidFill>
                  <a:srgbClr val="64748B"/>
                </a:solidFill>
                <a:latin typeface="Calibri" pitchFamily="34" charset="0"/>
                <a:ea typeface="Calibri" pitchFamily="34" charset="-122"/>
                <a:cs typeface="Calibri"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C2B5E"/>
          </a:solidFill>
          <a:ln/>
        </p:spPr>
      </p:sp>
      <p:sp>
        <p:nvSpPr>
          <p:cNvPr id="3" name="Text 1"/>
          <p:cNvSpPr/>
          <p:nvPr/>
        </p:nvSpPr>
        <p:spPr>
          <a:xfrm>
            <a:off x="365760" y="73152"/>
            <a:ext cx="841248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VALUATION — Cheap for a reason, but how cheap is too cheap?</a:t>
            </a:r>
            <a:endParaRPr lang="en-US" sz="1300" dirty="0"/>
          </a:p>
        </p:txBody>
      </p:sp>
      <p:sp>
        <p:nvSpPr>
          <p:cNvPr id="4" name="Text 2"/>
          <p:cNvSpPr/>
          <p:nvPr/>
        </p:nvSpPr>
        <p:spPr>
          <a:xfrm>
            <a:off x="274320" y="594360"/>
            <a:ext cx="4572000" cy="219456"/>
          </a:xfrm>
          <a:prstGeom prst="rect">
            <a:avLst/>
          </a:prstGeom>
          <a:noFill/>
          <a:ln/>
        </p:spPr>
        <p:txBody>
          <a:bodyPr wrap="square" lIns="0" tIns="0" rIns="0" bIns="0" rtlCol="0" anchor="ctr"/>
          <a:lstStyle/>
          <a:p>
            <a:pPr indent="0" marL="0">
              <a:buNone/>
            </a:pPr>
            <a:r>
              <a:rPr lang="en-US" sz="1000" b="1" dirty="0">
                <a:solidFill>
                  <a:srgbClr val="334155"/>
                </a:solidFill>
                <a:latin typeface="Calibri" pitchFamily="34" charset="0"/>
                <a:ea typeface="Calibri" pitchFamily="34" charset="-122"/>
                <a:cs typeface="Calibri" pitchFamily="34" charset="-120"/>
              </a:rPr>
              <a:t>DCF Scenarios vs. Current Price (INR)</a:t>
            </a:r>
            <a:endParaRPr lang="en-US" sz="1000" dirty="0"/>
          </a:p>
        </p:txBody>
      </p:sp>
      <p:graphicFrame>
        <p:nvGraphicFramePr>
          <p:cNvPr id="5" name="Chart 0" descr=""/>
          <p:cNvGraphicFramePr/>
          <p:nvPr/>
        </p:nvGraphicFramePr>
        <p:xfrm>
          <a:off x="274320" y="822960"/>
          <a:ext cx="4389120" cy="27432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274320" y="3657600"/>
            <a:ext cx="4389120" cy="36576"/>
          </a:xfrm>
          <a:prstGeom prst="rect">
            <a:avLst/>
          </a:prstGeom>
          <a:solidFill>
            <a:srgbClr val="D97706"/>
          </a:solidFill>
          <a:ln/>
        </p:spPr>
      </p:sp>
      <p:sp>
        <p:nvSpPr>
          <p:cNvPr id="7" name="Text 4"/>
          <p:cNvSpPr/>
          <p:nvPr/>
        </p:nvSpPr>
        <p:spPr>
          <a:xfrm>
            <a:off x="274320" y="3694176"/>
            <a:ext cx="4389120" cy="201168"/>
          </a:xfrm>
          <a:prstGeom prst="rect">
            <a:avLst/>
          </a:prstGeom>
          <a:noFill/>
          <a:ln/>
        </p:spPr>
        <p:txBody>
          <a:bodyPr wrap="square" lIns="0" tIns="0" rIns="0" bIns="0" rtlCol="0" anchor="ctr"/>
          <a:lstStyle/>
          <a:p>
            <a:pPr algn="ctr" indent="0" marL="0">
              <a:buNone/>
            </a:pPr>
            <a:r>
              <a:rPr lang="en-US" sz="850" b="1" dirty="0">
                <a:solidFill>
                  <a:srgbClr val="D97706"/>
                </a:solidFill>
                <a:latin typeface="Calibri" pitchFamily="34" charset="0"/>
                <a:ea typeface="Calibri" pitchFamily="34" charset="-122"/>
                <a:cs typeface="Calibri" pitchFamily="34" charset="-120"/>
              </a:rPr>
              <a:t>Current Price: INR 466  (above bear, below base)</a:t>
            </a:r>
            <a:endParaRPr lang="en-US" sz="850" dirty="0"/>
          </a:p>
        </p:txBody>
      </p:sp>
      <p:sp>
        <p:nvSpPr>
          <p:cNvPr id="8" name="Shape 5"/>
          <p:cNvSpPr/>
          <p:nvPr/>
        </p:nvSpPr>
        <p:spPr>
          <a:xfrm>
            <a:off x="4846320" y="658368"/>
            <a:ext cx="1371600" cy="3200400"/>
          </a:xfrm>
          <a:prstGeom prst="rect">
            <a:avLst/>
          </a:prstGeom>
          <a:solidFill>
            <a:srgbClr val="FFFFFF"/>
          </a:solidFill>
          <a:ln w="25400">
            <a:solidFill>
              <a:srgbClr val="DC2626"/>
            </a:solidFill>
            <a:prstDash val="solid"/>
          </a:ln>
          <a:effectLst>
            <a:outerShdw sx="100000" sy="100000" kx="0" ky="0" algn="bl" rotWithShape="0" blurRad="101600" dist="38100" dir="8100000">
              <a:srgbClr val="000000">
                <a:alpha val="10000"/>
              </a:srgbClr>
            </a:outerShdw>
          </a:effectLst>
        </p:spPr>
      </p:sp>
      <p:sp>
        <p:nvSpPr>
          <p:cNvPr id="9" name="Shape 6"/>
          <p:cNvSpPr/>
          <p:nvPr/>
        </p:nvSpPr>
        <p:spPr>
          <a:xfrm>
            <a:off x="4846320" y="658368"/>
            <a:ext cx="1371600" cy="347472"/>
          </a:xfrm>
          <a:prstGeom prst="rect">
            <a:avLst/>
          </a:prstGeom>
          <a:solidFill>
            <a:srgbClr val="DC2626"/>
          </a:solidFill>
          <a:ln/>
        </p:spPr>
      </p:sp>
      <p:sp>
        <p:nvSpPr>
          <p:cNvPr id="10" name="Text 7"/>
          <p:cNvSpPr/>
          <p:nvPr/>
        </p:nvSpPr>
        <p:spPr>
          <a:xfrm>
            <a:off x="4892040" y="676656"/>
            <a:ext cx="128016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Bear</a:t>
            </a:r>
            <a:endParaRPr lang="en-US" sz="1400" dirty="0"/>
          </a:p>
        </p:txBody>
      </p:sp>
      <p:sp>
        <p:nvSpPr>
          <p:cNvPr id="11" name="Text 8"/>
          <p:cNvSpPr/>
          <p:nvPr/>
        </p:nvSpPr>
        <p:spPr>
          <a:xfrm>
            <a:off x="4892040" y="1097280"/>
            <a:ext cx="1280160" cy="182880"/>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FCF CAGR</a:t>
            </a:r>
            <a:endParaRPr lang="en-US" sz="800" dirty="0"/>
          </a:p>
        </p:txBody>
      </p:sp>
      <p:sp>
        <p:nvSpPr>
          <p:cNvPr id="12" name="Text 9"/>
          <p:cNvSpPr/>
          <p:nvPr/>
        </p:nvSpPr>
        <p:spPr>
          <a:xfrm>
            <a:off x="4892040" y="1280160"/>
            <a:ext cx="1280160" cy="292608"/>
          </a:xfrm>
          <a:prstGeom prst="rect">
            <a:avLst/>
          </a:prstGeom>
          <a:noFill/>
          <a:ln/>
        </p:spPr>
        <p:txBody>
          <a:bodyPr wrap="square" lIns="0" tIns="0" rIns="0" bIns="0" rtlCol="0" anchor="ctr"/>
          <a:lstStyle/>
          <a:p>
            <a:pPr algn="ctr" indent="0" marL="0">
              <a:buNone/>
            </a:pPr>
            <a:r>
              <a:rPr lang="en-US" sz="1800" b="1" dirty="0">
                <a:solidFill>
                  <a:srgbClr val="DC2626"/>
                </a:solidFill>
                <a:latin typeface="Calibri" pitchFamily="34" charset="0"/>
                <a:ea typeface="Calibri" pitchFamily="34" charset="-122"/>
                <a:cs typeface="Calibri" pitchFamily="34" charset="-120"/>
              </a:rPr>
              <a:t>-2%</a:t>
            </a:r>
            <a:endParaRPr lang="en-US" sz="1800" dirty="0"/>
          </a:p>
        </p:txBody>
      </p:sp>
      <p:sp>
        <p:nvSpPr>
          <p:cNvPr id="13" name="Text 10"/>
          <p:cNvSpPr/>
          <p:nvPr/>
        </p:nvSpPr>
        <p:spPr>
          <a:xfrm>
            <a:off x="4892040" y="1700784"/>
            <a:ext cx="1280160" cy="182880"/>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FAIR VALUE</a:t>
            </a:r>
            <a:endParaRPr lang="en-US" sz="800" dirty="0"/>
          </a:p>
        </p:txBody>
      </p:sp>
      <p:sp>
        <p:nvSpPr>
          <p:cNvPr id="14" name="Text 11"/>
          <p:cNvSpPr/>
          <p:nvPr/>
        </p:nvSpPr>
        <p:spPr>
          <a:xfrm>
            <a:off x="4892040" y="1883664"/>
            <a:ext cx="1280160" cy="347472"/>
          </a:xfrm>
          <a:prstGeom prst="rect">
            <a:avLst/>
          </a:prstGeom>
          <a:noFill/>
          <a:ln/>
        </p:spPr>
        <p:txBody>
          <a:bodyPr wrap="square" lIns="0" tIns="0" rIns="0" bIns="0" rtlCol="0" anchor="ctr"/>
          <a:lstStyle/>
          <a:p>
            <a:pPr algn="ctr" indent="0" marL="0">
              <a:buNone/>
            </a:pPr>
            <a:r>
              <a:rPr lang="en-US" sz="1600" b="1" dirty="0">
                <a:solidFill>
                  <a:srgbClr val="DC2626"/>
                </a:solidFill>
                <a:latin typeface="Calibri" pitchFamily="34" charset="0"/>
                <a:ea typeface="Calibri" pitchFamily="34" charset="-122"/>
                <a:cs typeface="Calibri" pitchFamily="34" charset="-120"/>
              </a:rPr>
              <a:t>INR 388</a:t>
            </a:r>
            <a:endParaRPr lang="en-US" sz="1600" dirty="0"/>
          </a:p>
        </p:txBody>
      </p:sp>
      <p:sp>
        <p:nvSpPr>
          <p:cNvPr id="15" name="Text 12"/>
          <p:cNvSpPr/>
          <p:nvPr/>
        </p:nvSpPr>
        <p:spPr>
          <a:xfrm>
            <a:off x="4892040" y="2359152"/>
            <a:ext cx="1280160" cy="182880"/>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UPSIDE</a:t>
            </a:r>
            <a:endParaRPr lang="en-US" sz="800" dirty="0"/>
          </a:p>
        </p:txBody>
      </p:sp>
      <p:sp>
        <p:nvSpPr>
          <p:cNvPr id="16" name="Text 13"/>
          <p:cNvSpPr/>
          <p:nvPr/>
        </p:nvSpPr>
        <p:spPr>
          <a:xfrm>
            <a:off x="4892040" y="2542032"/>
            <a:ext cx="1280160" cy="292608"/>
          </a:xfrm>
          <a:prstGeom prst="rect">
            <a:avLst/>
          </a:prstGeom>
          <a:noFill/>
          <a:ln/>
        </p:spPr>
        <p:txBody>
          <a:bodyPr wrap="square" lIns="0" tIns="0" rIns="0" bIns="0" rtlCol="0" anchor="ctr"/>
          <a:lstStyle/>
          <a:p>
            <a:pPr algn="ctr" indent="0" marL="0">
              <a:buNone/>
            </a:pPr>
            <a:r>
              <a:rPr lang="en-US" sz="1800" b="1" dirty="0">
                <a:solidFill>
                  <a:srgbClr val="DC2626"/>
                </a:solidFill>
                <a:latin typeface="Calibri" pitchFamily="34" charset="0"/>
                <a:ea typeface="Calibri" pitchFamily="34" charset="-122"/>
                <a:cs typeface="Calibri" pitchFamily="34" charset="-120"/>
              </a:rPr>
              <a:t>-17%</a:t>
            </a:r>
            <a:endParaRPr lang="en-US" sz="1800" dirty="0"/>
          </a:p>
        </p:txBody>
      </p:sp>
      <p:sp>
        <p:nvSpPr>
          <p:cNvPr id="17" name="Shape 14"/>
          <p:cNvSpPr/>
          <p:nvPr/>
        </p:nvSpPr>
        <p:spPr>
          <a:xfrm>
            <a:off x="6309360" y="658368"/>
            <a:ext cx="1371600" cy="3200400"/>
          </a:xfrm>
          <a:prstGeom prst="rect">
            <a:avLst/>
          </a:prstGeom>
          <a:solidFill>
            <a:srgbClr val="FFFFFF"/>
          </a:solidFill>
          <a:ln w="25400">
            <a:solidFill>
              <a:srgbClr val="D97706"/>
            </a:solidFill>
            <a:prstDash val="solid"/>
          </a:ln>
          <a:effectLst>
            <a:outerShdw sx="100000" sy="100000" kx="0" ky="0" algn="bl" rotWithShape="0" blurRad="101600" dist="38100" dir="8100000">
              <a:srgbClr val="000000">
                <a:alpha val="10000"/>
              </a:srgbClr>
            </a:outerShdw>
          </a:effectLst>
        </p:spPr>
      </p:sp>
      <p:sp>
        <p:nvSpPr>
          <p:cNvPr id="18" name="Shape 15"/>
          <p:cNvSpPr/>
          <p:nvPr/>
        </p:nvSpPr>
        <p:spPr>
          <a:xfrm>
            <a:off x="6309360" y="658368"/>
            <a:ext cx="1371600" cy="347472"/>
          </a:xfrm>
          <a:prstGeom prst="rect">
            <a:avLst/>
          </a:prstGeom>
          <a:solidFill>
            <a:srgbClr val="D97706"/>
          </a:solidFill>
          <a:ln/>
        </p:spPr>
      </p:sp>
      <p:sp>
        <p:nvSpPr>
          <p:cNvPr id="19" name="Text 16"/>
          <p:cNvSpPr/>
          <p:nvPr/>
        </p:nvSpPr>
        <p:spPr>
          <a:xfrm>
            <a:off x="6355080" y="676656"/>
            <a:ext cx="128016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Base</a:t>
            </a:r>
            <a:endParaRPr lang="en-US" sz="1400" dirty="0"/>
          </a:p>
        </p:txBody>
      </p:sp>
      <p:sp>
        <p:nvSpPr>
          <p:cNvPr id="20" name="Text 17"/>
          <p:cNvSpPr/>
          <p:nvPr/>
        </p:nvSpPr>
        <p:spPr>
          <a:xfrm>
            <a:off x="6355080" y="1097280"/>
            <a:ext cx="1280160" cy="182880"/>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FCF CAGR</a:t>
            </a:r>
            <a:endParaRPr lang="en-US" sz="800" dirty="0"/>
          </a:p>
        </p:txBody>
      </p:sp>
      <p:sp>
        <p:nvSpPr>
          <p:cNvPr id="21" name="Text 18"/>
          <p:cNvSpPr/>
          <p:nvPr/>
        </p:nvSpPr>
        <p:spPr>
          <a:xfrm>
            <a:off x="6355080" y="1280160"/>
            <a:ext cx="1280160" cy="292608"/>
          </a:xfrm>
          <a:prstGeom prst="rect">
            <a:avLst/>
          </a:prstGeom>
          <a:noFill/>
          <a:ln/>
        </p:spPr>
        <p:txBody>
          <a:bodyPr wrap="square" lIns="0" tIns="0" rIns="0" bIns="0" rtlCol="0" anchor="ctr"/>
          <a:lstStyle/>
          <a:p>
            <a:pPr algn="ctr" indent="0" marL="0">
              <a:buNone/>
            </a:pPr>
            <a:r>
              <a:rPr lang="en-US" sz="1800" b="1" dirty="0">
                <a:solidFill>
                  <a:srgbClr val="D97706"/>
                </a:solidFill>
                <a:latin typeface="Calibri" pitchFamily="34" charset="0"/>
                <a:ea typeface="Calibri" pitchFamily="34" charset="-122"/>
                <a:cs typeface="Calibri" pitchFamily="34" charset="-120"/>
              </a:rPr>
              <a:t>+5%</a:t>
            </a:r>
            <a:endParaRPr lang="en-US" sz="1800" dirty="0"/>
          </a:p>
        </p:txBody>
      </p:sp>
      <p:sp>
        <p:nvSpPr>
          <p:cNvPr id="22" name="Text 19"/>
          <p:cNvSpPr/>
          <p:nvPr/>
        </p:nvSpPr>
        <p:spPr>
          <a:xfrm>
            <a:off x="6355080" y="1700784"/>
            <a:ext cx="1280160" cy="182880"/>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FAIR VALUE</a:t>
            </a:r>
            <a:endParaRPr lang="en-US" sz="800" dirty="0"/>
          </a:p>
        </p:txBody>
      </p:sp>
      <p:sp>
        <p:nvSpPr>
          <p:cNvPr id="23" name="Text 20"/>
          <p:cNvSpPr/>
          <p:nvPr/>
        </p:nvSpPr>
        <p:spPr>
          <a:xfrm>
            <a:off x="6355080" y="1883664"/>
            <a:ext cx="1280160" cy="347472"/>
          </a:xfrm>
          <a:prstGeom prst="rect">
            <a:avLst/>
          </a:prstGeom>
          <a:noFill/>
          <a:ln/>
        </p:spPr>
        <p:txBody>
          <a:bodyPr wrap="square" lIns="0" tIns="0" rIns="0" bIns="0" rtlCol="0" anchor="ctr"/>
          <a:lstStyle/>
          <a:p>
            <a:pPr algn="ctr" indent="0" marL="0">
              <a:buNone/>
            </a:pPr>
            <a:r>
              <a:rPr lang="en-US" sz="1600" b="1" dirty="0">
                <a:solidFill>
                  <a:srgbClr val="D97706"/>
                </a:solidFill>
                <a:latin typeface="Calibri" pitchFamily="34" charset="0"/>
                <a:ea typeface="Calibri" pitchFamily="34" charset="-122"/>
                <a:cs typeface="Calibri" pitchFamily="34" charset="-120"/>
              </a:rPr>
              <a:t>INR 685</a:t>
            </a:r>
            <a:endParaRPr lang="en-US" sz="1600" dirty="0"/>
          </a:p>
        </p:txBody>
      </p:sp>
      <p:sp>
        <p:nvSpPr>
          <p:cNvPr id="24" name="Text 21"/>
          <p:cNvSpPr/>
          <p:nvPr/>
        </p:nvSpPr>
        <p:spPr>
          <a:xfrm>
            <a:off x="6355080" y="2359152"/>
            <a:ext cx="1280160" cy="182880"/>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UPSIDE</a:t>
            </a:r>
            <a:endParaRPr lang="en-US" sz="800" dirty="0"/>
          </a:p>
        </p:txBody>
      </p:sp>
      <p:sp>
        <p:nvSpPr>
          <p:cNvPr id="25" name="Text 22"/>
          <p:cNvSpPr/>
          <p:nvPr/>
        </p:nvSpPr>
        <p:spPr>
          <a:xfrm>
            <a:off x="6355080" y="2542032"/>
            <a:ext cx="1280160" cy="292608"/>
          </a:xfrm>
          <a:prstGeom prst="rect">
            <a:avLst/>
          </a:prstGeom>
          <a:noFill/>
          <a:ln/>
        </p:spPr>
        <p:txBody>
          <a:bodyPr wrap="square" lIns="0" tIns="0" rIns="0" bIns="0" rtlCol="0" anchor="ctr"/>
          <a:lstStyle/>
          <a:p>
            <a:pPr algn="ctr" indent="0" marL="0">
              <a:buNone/>
            </a:pPr>
            <a:r>
              <a:rPr lang="en-US" sz="1800" b="1" dirty="0">
                <a:solidFill>
                  <a:srgbClr val="D97706"/>
                </a:solidFill>
                <a:latin typeface="Calibri" pitchFamily="34" charset="0"/>
                <a:ea typeface="Calibri" pitchFamily="34" charset="-122"/>
                <a:cs typeface="Calibri" pitchFamily="34" charset="-120"/>
              </a:rPr>
              <a:t>+47%</a:t>
            </a:r>
            <a:endParaRPr lang="en-US" sz="1800" dirty="0"/>
          </a:p>
        </p:txBody>
      </p:sp>
      <p:sp>
        <p:nvSpPr>
          <p:cNvPr id="26" name="Shape 23"/>
          <p:cNvSpPr/>
          <p:nvPr/>
        </p:nvSpPr>
        <p:spPr>
          <a:xfrm>
            <a:off x="7772400" y="658368"/>
            <a:ext cx="1371600" cy="3200400"/>
          </a:xfrm>
          <a:prstGeom prst="rect">
            <a:avLst/>
          </a:prstGeom>
          <a:solidFill>
            <a:srgbClr val="FFFFFF"/>
          </a:solidFill>
          <a:ln w="25400">
            <a:solidFill>
              <a:srgbClr val="059669"/>
            </a:solidFill>
            <a:prstDash val="solid"/>
          </a:ln>
          <a:effectLst>
            <a:outerShdw sx="100000" sy="100000" kx="0" ky="0" algn="bl" rotWithShape="0" blurRad="101600" dist="38100" dir="8100000">
              <a:srgbClr val="000000">
                <a:alpha val="10000"/>
              </a:srgbClr>
            </a:outerShdw>
          </a:effectLst>
        </p:spPr>
      </p:sp>
      <p:sp>
        <p:nvSpPr>
          <p:cNvPr id="27" name="Shape 24"/>
          <p:cNvSpPr/>
          <p:nvPr/>
        </p:nvSpPr>
        <p:spPr>
          <a:xfrm>
            <a:off x="7772400" y="658368"/>
            <a:ext cx="1371600" cy="347472"/>
          </a:xfrm>
          <a:prstGeom prst="rect">
            <a:avLst/>
          </a:prstGeom>
          <a:solidFill>
            <a:srgbClr val="059669"/>
          </a:solidFill>
          <a:ln/>
        </p:spPr>
      </p:sp>
      <p:sp>
        <p:nvSpPr>
          <p:cNvPr id="28" name="Text 25"/>
          <p:cNvSpPr/>
          <p:nvPr/>
        </p:nvSpPr>
        <p:spPr>
          <a:xfrm>
            <a:off x="7818120" y="676656"/>
            <a:ext cx="128016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Bull</a:t>
            </a:r>
            <a:endParaRPr lang="en-US" sz="1400" dirty="0"/>
          </a:p>
        </p:txBody>
      </p:sp>
      <p:sp>
        <p:nvSpPr>
          <p:cNvPr id="29" name="Text 26"/>
          <p:cNvSpPr/>
          <p:nvPr/>
        </p:nvSpPr>
        <p:spPr>
          <a:xfrm>
            <a:off x="7818120" y="1097280"/>
            <a:ext cx="1280160" cy="182880"/>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FCF CAGR</a:t>
            </a:r>
            <a:endParaRPr lang="en-US" sz="800" dirty="0"/>
          </a:p>
        </p:txBody>
      </p:sp>
      <p:sp>
        <p:nvSpPr>
          <p:cNvPr id="30" name="Text 27"/>
          <p:cNvSpPr/>
          <p:nvPr/>
        </p:nvSpPr>
        <p:spPr>
          <a:xfrm>
            <a:off x="7818120" y="1280160"/>
            <a:ext cx="1280160" cy="292608"/>
          </a:xfrm>
          <a:prstGeom prst="rect">
            <a:avLst/>
          </a:prstGeom>
          <a:noFill/>
          <a:ln/>
        </p:spPr>
        <p:txBody>
          <a:bodyPr wrap="square" lIns="0" tIns="0" rIns="0" bIns="0" rtlCol="0" anchor="ctr"/>
          <a:lstStyle/>
          <a:p>
            <a:pPr algn="ctr" indent="0" marL="0">
              <a:buNone/>
            </a:pPr>
            <a:r>
              <a:rPr lang="en-US" sz="1800" b="1" dirty="0">
                <a:solidFill>
                  <a:srgbClr val="059669"/>
                </a:solidFill>
                <a:latin typeface="Calibri" pitchFamily="34" charset="0"/>
                <a:ea typeface="Calibri" pitchFamily="34" charset="-122"/>
                <a:cs typeface="Calibri" pitchFamily="34" charset="-120"/>
              </a:rPr>
              <a:t>+10%</a:t>
            </a:r>
            <a:endParaRPr lang="en-US" sz="1800" dirty="0"/>
          </a:p>
        </p:txBody>
      </p:sp>
      <p:sp>
        <p:nvSpPr>
          <p:cNvPr id="31" name="Text 28"/>
          <p:cNvSpPr/>
          <p:nvPr/>
        </p:nvSpPr>
        <p:spPr>
          <a:xfrm>
            <a:off x="7818120" y="1700784"/>
            <a:ext cx="1280160" cy="182880"/>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FAIR VALUE</a:t>
            </a:r>
            <a:endParaRPr lang="en-US" sz="800" dirty="0"/>
          </a:p>
        </p:txBody>
      </p:sp>
      <p:sp>
        <p:nvSpPr>
          <p:cNvPr id="32" name="Text 29"/>
          <p:cNvSpPr/>
          <p:nvPr/>
        </p:nvSpPr>
        <p:spPr>
          <a:xfrm>
            <a:off x="7818120" y="1883664"/>
            <a:ext cx="1280160" cy="347472"/>
          </a:xfrm>
          <a:prstGeom prst="rect">
            <a:avLst/>
          </a:prstGeom>
          <a:noFill/>
          <a:ln/>
        </p:spPr>
        <p:txBody>
          <a:bodyPr wrap="square" lIns="0" tIns="0" rIns="0" bIns="0" rtlCol="0" anchor="ctr"/>
          <a:lstStyle/>
          <a:p>
            <a:pPr algn="ctr" indent="0" marL="0">
              <a:buNone/>
            </a:pPr>
            <a:r>
              <a:rPr lang="en-US" sz="1600" b="1" dirty="0">
                <a:solidFill>
                  <a:srgbClr val="059669"/>
                </a:solidFill>
                <a:latin typeface="Calibri" pitchFamily="34" charset="0"/>
                <a:ea typeface="Calibri" pitchFamily="34" charset="-122"/>
                <a:cs typeface="Calibri" pitchFamily="34" charset="-120"/>
              </a:rPr>
              <a:t>INR 1,061</a:t>
            </a:r>
            <a:endParaRPr lang="en-US" sz="1600" dirty="0"/>
          </a:p>
        </p:txBody>
      </p:sp>
      <p:sp>
        <p:nvSpPr>
          <p:cNvPr id="33" name="Text 30"/>
          <p:cNvSpPr/>
          <p:nvPr/>
        </p:nvSpPr>
        <p:spPr>
          <a:xfrm>
            <a:off x="7818120" y="2359152"/>
            <a:ext cx="1280160" cy="182880"/>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UPSIDE</a:t>
            </a:r>
            <a:endParaRPr lang="en-US" sz="800" dirty="0"/>
          </a:p>
        </p:txBody>
      </p:sp>
      <p:sp>
        <p:nvSpPr>
          <p:cNvPr id="34" name="Text 31"/>
          <p:cNvSpPr/>
          <p:nvPr/>
        </p:nvSpPr>
        <p:spPr>
          <a:xfrm>
            <a:off x="7818120" y="2542032"/>
            <a:ext cx="1280160" cy="292608"/>
          </a:xfrm>
          <a:prstGeom prst="rect">
            <a:avLst/>
          </a:prstGeom>
          <a:noFill/>
          <a:ln/>
        </p:spPr>
        <p:txBody>
          <a:bodyPr wrap="square" lIns="0" tIns="0" rIns="0" bIns="0" rtlCol="0" anchor="ctr"/>
          <a:lstStyle/>
          <a:p>
            <a:pPr algn="ctr" indent="0" marL="0">
              <a:buNone/>
            </a:pPr>
            <a:r>
              <a:rPr lang="en-US" sz="1800" b="1" dirty="0">
                <a:solidFill>
                  <a:srgbClr val="059669"/>
                </a:solidFill>
                <a:latin typeface="Calibri" pitchFamily="34" charset="0"/>
                <a:ea typeface="Calibri" pitchFamily="34" charset="-122"/>
                <a:cs typeface="Calibri" pitchFamily="34" charset="-120"/>
              </a:rPr>
              <a:t>+127%</a:t>
            </a:r>
            <a:endParaRPr lang="en-US" sz="1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274320" y="3977640"/>
          <a:ext cx="8595360" cy="1005840"/>
        </p:xfrm>
        <a:graphic>
          <a:graphicData uri="http://schemas.openxmlformats.org/drawingml/2006/table">
            <a:tbl>
              <a:tblPr/>
              <a:tblGrid>
                <a:gridCol w="2148840"/>
                <a:gridCol w="2148840"/>
                <a:gridCol w="2148840"/>
                <a:gridCol w="2148840"/>
              </a:tblGrid>
              <a:tr h="143691">
                <a:tc>
                  <a:txBody>
                    <a:bodyPr/>
                    <a:lstStyle/>
                    <a:p>
                      <a:pPr algn="l" indent="0" marL="0">
                        <a:buNone/>
                      </a:pPr>
                      <a:r>
                        <a:rPr lang="en-US" sz="850" b="1" dirty="0">
                          <a:solidFill>
                            <a:srgbClr val="FFFFFF"/>
                          </a:solidFill>
                        </a:rPr>
                        <a:t>Metric</a:t>
                      </a:r>
                      <a:endParaRPr lang="en-US" sz="85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1C2B5E"/>
                    </a:solidFill>
                  </a:tcPr>
                </a:tc>
                <a:tc>
                  <a:txBody>
                    <a:bodyPr/>
                    <a:lstStyle/>
                    <a:p>
                      <a:pPr algn="ctr" indent="0" marL="0">
                        <a:buNone/>
                      </a:pPr>
                      <a:r>
                        <a:rPr lang="en-US" sz="850" b="1" dirty="0">
                          <a:solidFill>
                            <a:srgbClr val="FFFFFF"/>
                          </a:solidFill>
                        </a:rPr>
                        <a:t>Current</a:t>
                      </a:r>
                      <a:endParaRPr lang="en-US" sz="85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1C2B5E"/>
                    </a:solidFill>
                  </a:tcPr>
                </a:tc>
                <a:tc>
                  <a:txBody>
                    <a:bodyPr/>
                    <a:lstStyle/>
                    <a:p>
                      <a:pPr algn="ctr" indent="0" marL="0">
                        <a:buNone/>
                      </a:pPr>
                      <a:r>
                        <a:rPr lang="en-US" sz="850" b="1" dirty="0">
                          <a:solidFill>
                            <a:srgbClr val="FFFFFF"/>
                          </a:solidFill>
                        </a:rPr>
                        <a:t>5-Yr Avg</a:t>
                      </a:r>
                      <a:endParaRPr lang="en-US" sz="85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1C2B5E"/>
                    </a:solidFill>
                  </a:tcPr>
                </a:tc>
                <a:tc>
                  <a:txBody>
                    <a:bodyPr/>
                    <a:lstStyle/>
                    <a:p>
                      <a:pPr algn="ctr" indent="0" marL="0">
                        <a:buNone/>
                      </a:pPr>
                      <a:r>
                        <a:rPr lang="en-US" sz="850" b="1" dirty="0">
                          <a:solidFill>
                            <a:srgbClr val="FFFFFF"/>
                          </a:solidFill>
                        </a:rPr>
                        <a:t>PSU Sector Avg</a:t>
                      </a:r>
                      <a:endParaRPr lang="en-US" sz="85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1C2B5E"/>
                    </a:solidFill>
                  </a:tcPr>
                </a:tc>
              </a:tr>
              <a:tr h="143691">
                <a:tc>
                  <a:txBody>
                    <a:bodyPr/>
                    <a:lstStyle/>
                    <a:p>
                      <a:pPr algn="l" indent="0" marL="0">
                        <a:buNone/>
                      </a:pPr>
                      <a:r>
                        <a:rPr lang="en-US" sz="1000" b="1" dirty="0">
                          <a:solidFill>
                            <a:srgbClr val="334155"/>
                          </a:solidFill>
                        </a:rPr>
                        <a:t>Trailing P/E</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F172A"/>
                          </a:solidFill>
                        </a:rPr>
                        <a:t>9.2x</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F172A"/>
                          </a:solidFill>
                        </a:rPr>
                        <a:t>10x</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F172A"/>
                          </a:solidFill>
                        </a:rPr>
                        <a:t>11x</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FFFFF"/>
                    </a:solidFill>
                  </a:tcPr>
                </a:tc>
              </a:tr>
              <a:tr h="143691">
                <a:tc>
                  <a:txBody>
                    <a:bodyPr/>
                    <a:lstStyle/>
                    <a:p>
                      <a:pPr algn="l" indent="0" marL="0">
                        <a:buNone/>
                      </a:pPr>
                      <a:r>
                        <a:rPr lang="en-US" sz="1000" b="1" dirty="0">
                          <a:solidFill>
                            <a:srgbClr val="334155"/>
                          </a:solidFill>
                        </a:rPr>
                        <a:t>Forward P/E</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8FAFF"/>
                    </a:solidFill>
                  </a:tcPr>
                </a:tc>
                <a:tc>
                  <a:txBody>
                    <a:bodyPr/>
                    <a:lstStyle/>
                    <a:p>
                      <a:pPr algn="ctr" indent="0" marL="0">
                        <a:buNone/>
                      </a:pPr>
                      <a:r>
                        <a:rPr lang="en-US" sz="1000" dirty="0">
                          <a:solidFill>
                            <a:srgbClr val="0F172A"/>
                          </a:solidFill>
                        </a:rPr>
                        <a:t>8.1x</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8FAFF"/>
                    </a:solidFill>
                  </a:tcPr>
                </a:tc>
                <a:tc>
                  <a:txBody>
                    <a:bodyPr/>
                    <a:lstStyle/>
                    <a:p>
                      <a:pPr algn="ctr" indent="0" marL="0">
                        <a:buNone/>
                      </a:pPr>
                      <a:r>
                        <a:rPr lang="en-US" sz="1000" dirty="0">
                          <a:solidFill>
                            <a:srgbClr val="0F172A"/>
                          </a:solidFill>
                        </a:rPr>
                        <a:t>—</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8FAFF"/>
                    </a:solidFill>
                  </a:tcPr>
                </a:tc>
                <a:tc>
                  <a:txBody>
                    <a:bodyPr/>
                    <a:lstStyle/>
                    <a:p>
                      <a:pPr algn="ctr" indent="0" marL="0">
                        <a:buNone/>
                      </a:pPr>
                      <a:r>
                        <a:rPr lang="en-US" sz="1000" dirty="0">
                          <a:solidFill>
                            <a:srgbClr val="0F172A"/>
                          </a:solidFill>
                        </a:rPr>
                        <a:t>—</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8FAFF"/>
                    </a:solidFill>
                  </a:tcPr>
                </a:tc>
              </a:tr>
              <a:tr h="143691">
                <a:tc>
                  <a:txBody>
                    <a:bodyPr/>
                    <a:lstStyle/>
                    <a:p>
                      <a:pPr algn="l" indent="0" marL="0">
                        <a:buNone/>
                      </a:pPr>
                      <a:r>
                        <a:rPr lang="en-US" sz="1000" b="1" dirty="0">
                          <a:solidFill>
                            <a:srgbClr val="334155"/>
                          </a:solidFill>
                        </a:rPr>
                        <a:t>EV/EBITDA</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F172A"/>
                          </a:solidFill>
                        </a:rPr>
                        <a:t>6.0x</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F172A"/>
                          </a:solidFill>
                        </a:rPr>
                        <a:t>7x</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F172A"/>
                          </a:solidFill>
                        </a:rPr>
                        <a:t>8x</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FFFFF"/>
                    </a:solidFill>
                  </a:tcPr>
                </a:tc>
              </a:tr>
              <a:tr h="143691">
                <a:tc>
                  <a:txBody>
                    <a:bodyPr/>
                    <a:lstStyle/>
                    <a:p>
                      <a:pPr algn="l" indent="0" marL="0">
                        <a:buNone/>
                      </a:pPr>
                      <a:r>
                        <a:rPr lang="en-US" sz="1000" b="1" dirty="0">
                          <a:solidFill>
                            <a:srgbClr val="334155"/>
                          </a:solidFill>
                        </a:rPr>
                        <a:t>FCF Yield</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8FAFF"/>
                    </a:solidFill>
                  </a:tcPr>
                </a:tc>
                <a:tc>
                  <a:txBody>
                    <a:bodyPr/>
                    <a:lstStyle/>
                    <a:p>
                      <a:pPr algn="ctr" indent="0" marL="0">
                        <a:buNone/>
                      </a:pPr>
                      <a:r>
                        <a:rPr lang="en-US" sz="1000" dirty="0">
                          <a:solidFill>
                            <a:srgbClr val="0F172A"/>
                          </a:solidFill>
                        </a:rPr>
                        <a:t>10.7%</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8FAFF"/>
                    </a:solidFill>
                  </a:tcPr>
                </a:tc>
                <a:tc>
                  <a:txBody>
                    <a:bodyPr/>
                    <a:lstStyle/>
                    <a:p>
                      <a:pPr algn="ctr" indent="0" marL="0">
                        <a:buNone/>
                      </a:pPr>
                      <a:r>
                        <a:rPr lang="en-US" sz="1000" dirty="0">
                          <a:solidFill>
                            <a:srgbClr val="0F172A"/>
                          </a:solidFill>
                        </a:rPr>
                        <a:t>~5%</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8FAFF"/>
                    </a:solidFill>
                  </a:tcPr>
                </a:tc>
                <a:tc>
                  <a:txBody>
                    <a:bodyPr/>
                    <a:lstStyle/>
                    <a:p>
                      <a:pPr algn="ctr" indent="0" marL="0">
                        <a:buNone/>
                      </a:pPr>
                      <a:r>
                        <a:rPr lang="en-US" sz="1000" dirty="0">
                          <a:solidFill>
                            <a:srgbClr val="0F172A"/>
                          </a:solidFill>
                        </a:rPr>
                        <a:t>—</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8FAFF"/>
                    </a:solidFill>
                  </a:tcPr>
                </a:tc>
              </a:tr>
              <a:tr h="143691">
                <a:tc>
                  <a:txBody>
                    <a:bodyPr/>
                    <a:lstStyle/>
                    <a:p>
                      <a:pPr algn="l" indent="0" marL="0">
                        <a:buNone/>
                      </a:pPr>
                      <a:r>
                        <a:rPr lang="en-US" sz="1000" b="1" dirty="0">
                          <a:solidFill>
                            <a:srgbClr val="334155"/>
                          </a:solidFill>
                        </a:rPr>
                        <a:t>Dividend Yield</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F172A"/>
                          </a:solidFill>
                        </a:rPr>
                        <a:t>5.7%</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F172A"/>
                          </a:solidFill>
                        </a:rPr>
                        <a:t>~5%</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F172A"/>
                          </a:solidFill>
                        </a:rPr>
                        <a:t>~4%</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FFFFF"/>
                    </a:solidFill>
                  </a:tcPr>
                </a:tc>
              </a:tr>
              <a:tr h="143691">
                <a:tc>
                  <a:txBody>
                    <a:bodyPr/>
                    <a:lstStyle/>
                    <a:p>
                      <a:pPr algn="l" indent="0" marL="0">
                        <a:buNone/>
                      </a:pPr>
                      <a:r>
                        <a:rPr lang="en-US" sz="1000" b="1" dirty="0">
                          <a:solidFill>
                            <a:srgbClr val="334155"/>
                          </a:solidFill>
                        </a:rPr>
                        <a:t>ROCE</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8FAFF"/>
                    </a:solidFill>
                  </a:tcPr>
                </a:tc>
                <a:tc>
                  <a:txBody>
                    <a:bodyPr/>
                    <a:lstStyle/>
                    <a:p>
                      <a:pPr algn="ctr" indent="0" marL="0">
                        <a:buNone/>
                      </a:pPr>
                      <a:r>
                        <a:rPr lang="en-US" sz="1000" dirty="0">
                          <a:solidFill>
                            <a:srgbClr val="0F172A"/>
                          </a:solidFill>
                        </a:rPr>
                        <a:t>35.3%</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8FAFF"/>
                    </a:solidFill>
                  </a:tcPr>
                </a:tc>
                <a:tc>
                  <a:txBody>
                    <a:bodyPr/>
                    <a:lstStyle/>
                    <a:p>
                      <a:pPr algn="ctr" indent="0" marL="0">
                        <a:buNone/>
                      </a:pPr>
                      <a:r>
                        <a:rPr lang="en-US" sz="1000" dirty="0">
                          <a:solidFill>
                            <a:srgbClr val="0F172A"/>
                          </a:solidFill>
                        </a:rPr>
                        <a:t>~30%</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8FAFF"/>
                    </a:solidFill>
                  </a:tcPr>
                </a:tc>
                <a:tc>
                  <a:txBody>
                    <a:bodyPr/>
                    <a:lstStyle/>
                    <a:p>
                      <a:pPr algn="ctr" indent="0" marL="0">
                        <a:buNone/>
                      </a:pPr>
                      <a:r>
                        <a:rPr lang="en-US" sz="1000" dirty="0">
                          <a:solidFill>
                            <a:srgbClr val="0F172A"/>
                          </a:solidFill>
                        </a:rPr>
                        <a:t>~20%</a:t>
                      </a:r>
                      <a:endParaRPr lang="en-US" sz="1000" dirty="0"/>
                    </a:p>
                  </a:txBody>
                  <a:tcPr marL="91440" marR="91440" marT="45720" marB="45720">
                    <a:lnL w="6350" cap="flat" cmpd="sng" algn="ctr">
                      <a:solidFill>
                        <a:srgbClr val="D6E4FF"/>
                      </a:solidFill>
                      <a:prstDash val="solid"/>
                      <a:round/>
                      <a:headEnd type="none" w="med" len="med"/>
                      <a:tailEnd type="none" w="med" len="med"/>
                    </a:lnL>
                    <a:lnR w="6350" cap="flat" cmpd="sng" algn="ctr">
                      <a:solidFill>
                        <a:srgbClr val="D6E4FF"/>
                      </a:solidFill>
                      <a:prstDash val="solid"/>
                      <a:round/>
                      <a:headEnd type="none" w="med" len="med"/>
                      <a:tailEnd type="none" w="med" len="med"/>
                    </a:lnR>
                    <a:lnT w="6350" cap="flat" cmpd="sng" algn="ctr">
                      <a:solidFill>
                        <a:srgbClr val="D6E4FF"/>
                      </a:solidFill>
                      <a:prstDash val="solid"/>
                      <a:round/>
                      <a:headEnd type="none" w="med" len="med"/>
                      <a:tailEnd type="none" w="med" len="med"/>
                    </a:lnT>
                    <a:lnB w="6350" cap="flat" cmpd="sng" algn="ctr">
                      <a:solidFill>
                        <a:srgbClr val="D6E4FF"/>
                      </a:solidFill>
                      <a:prstDash val="solid"/>
                      <a:round/>
                      <a:headEnd type="none" w="med" len="med"/>
                      <a:tailEnd type="none" w="med" len="med"/>
                    </a:lnB>
                    <a:solidFill>
                      <a:srgbClr val="F8FAFF"/>
                    </a:solidFill>
                  </a:tcPr>
                </a:tc>
              </a:tr>
            </a:tbl>
          </a:graphicData>
        </a:graphic>
      </p:graphicFrame>
      <p:sp>
        <p:nvSpPr>
          <p:cNvPr id="36" name="Text 32"/>
          <p:cNvSpPr/>
          <p:nvPr/>
        </p:nvSpPr>
        <p:spPr>
          <a:xfrm>
            <a:off x="8778240" y="4846320"/>
            <a:ext cx="274320" cy="182880"/>
          </a:xfrm>
          <a:prstGeom prst="rect">
            <a:avLst/>
          </a:prstGeom>
          <a:noFill/>
          <a:ln/>
        </p:spPr>
        <p:txBody>
          <a:bodyPr wrap="square" lIns="0" tIns="0" rIns="0" bIns="0" rtlCol="0" anchor="ctr"/>
          <a:lstStyle/>
          <a:p>
            <a:pPr algn="r" indent="0" marL="0">
              <a:buNone/>
            </a:pPr>
            <a:r>
              <a:rPr lang="en-US" sz="800" dirty="0">
                <a:solidFill>
                  <a:srgbClr val="64748B"/>
                </a:solidFill>
                <a:latin typeface="Calibri" pitchFamily="34" charset="0"/>
                <a:ea typeface="Calibri" pitchFamily="34" charset="-122"/>
                <a:cs typeface="Calibri"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C2B5E"/>
          </a:solidFill>
          <a:ln/>
        </p:spPr>
      </p:sp>
      <p:sp>
        <p:nvSpPr>
          <p:cNvPr id="3" name="Text 1"/>
          <p:cNvSpPr/>
          <p:nvPr/>
        </p:nvSpPr>
        <p:spPr>
          <a:xfrm>
            <a:off x="365760" y="73152"/>
            <a:ext cx="841248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KEY RISKS — The energy transition is the existential question</a:t>
            </a:r>
            <a:endParaRPr lang="en-US" sz="1300" dirty="0"/>
          </a:p>
        </p:txBody>
      </p:sp>
      <p:sp>
        <p:nvSpPr>
          <p:cNvPr id="4" name="Shape 2"/>
          <p:cNvSpPr/>
          <p:nvPr/>
        </p:nvSpPr>
        <p:spPr>
          <a:xfrm>
            <a:off x="274320" y="621792"/>
            <a:ext cx="8595360" cy="786384"/>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5" name="Shape 3"/>
          <p:cNvSpPr/>
          <p:nvPr/>
        </p:nvSpPr>
        <p:spPr>
          <a:xfrm>
            <a:off x="274320" y="621792"/>
            <a:ext cx="164592" cy="786384"/>
          </a:xfrm>
          <a:prstGeom prst="rect">
            <a:avLst/>
          </a:prstGeom>
          <a:solidFill>
            <a:srgbClr val="DC2626"/>
          </a:solidFill>
          <a:ln/>
        </p:spPr>
      </p:sp>
      <p:sp>
        <p:nvSpPr>
          <p:cNvPr id="6" name="Shape 4"/>
          <p:cNvSpPr/>
          <p:nvPr/>
        </p:nvSpPr>
        <p:spPr>
          <a:xfrm>
            <a:off x="8119872" y="822960"/>
            <a:ext cx="713232" cy="256032"/>
          </a:xfrm>
          <a:prstGeom prst="rect">
            <a:avLst/>
          </a:prstGeom>
          <a:solidFill>
            <a:srgbClr val="DC2626"/>
          </a:solidFill>
          <a:ln/>
        </p:spPr>
      </p:sp>
      <p:sp>
        <p:nvSpPr>
          <p:cNvPr id="7" name="Text 5"/>
          <p:cNvSpPr/>
          <p:nvPr/>
        </p:nvSpPr>
        <p:spPr>
          <a:xfrm>
            <a:off x="8119872" y="822960"/>
            <a:ext cx="713232"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HIGH</a:t>
            </a:r>
            <a:endParaRPr lang="en-US" sz="750" dirty="0"/>
          </a:p>
        </p:txBody>
      </p:sp>
      <p:sp>
        <p:nvSpPr>
          <p:cNvPr id="8" name="Text 6"/>
          <p:cNvSpPr/>
          <p:nvPr/>
        </p:nvSpPr>
        <p:spPr>
          <a:xfrm>
            <a:off x="530352" y="694944"/>
            <a:ext cx="7406640" cy="237744"/>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1. Energy Transition — Renewable Displacement</a:t>
            </a:r>
            <a:endParaRPr lang="en-US" sz="1100" dirty="0"/>
          </a:p>
        </p:txBody>
      </p:sp>
      <p:sp>
        <p:nvSpPr>
          <p:cNvPr id="9" name="Text 7"/>
          <p:cNvSpPr/>
          <p:nvPr/>
        </p:nvSpPr>
        <p:spPr>
          <a:xfrm>
            <a:off x="530352" y="969264"/>
            <a:ext cx="740664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India's renewable capacity is growing 15%+ annually. By FY2031, coal tariffs will be ~25% costlier than firm renewables. This is the existential 10-year risk for Coal India's volume outlook.</a:t>
            </a:r>
            <a:endParaRPr lang="en-US" sz="950" dirty="0"/>
          </a:p>
        </p:txBody>
      </p:sp>
      <p:sp>
        <p:nvSpPr>
          <p:cNvPr id="10" name="Shape 8"/>
          <p:cNvSpPr/>
          <p:nvPr/>
        </p:nvSpPr>
        <p:spPr>
          <a:xfrm>
            <a:off x="274320" y="1490472"/>
            <a:ext cx="8595360" cy="786384"/>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1" name="Shape 9"/>
          <p:cNvSpPr/>
          <p:nvPr/>
        </p:nvSpPr>
        <p:spPr>
          <a:xfrm>
            <a:off x="274320" y="1490472"/>
            <a:ext cx="164592" cy="786384"/>
          </a:xfrm>
          <a:prstGeom prst="rect">
            <a:avLst/>
          </a:prstGeom>
          <a:solidFill>
            <a:srgbClr val="DC2626"/>
          </a:solidFill>
          <a:ln/>
        </p:spPr>
      </p:sp>
      <p:sp>
        <p:nvSpPr>
          <p:cNvPr id="12" name="Shape 10"/>
          <p:cNvSpPr/>
          <p:nvPr/>
        </p:nvSpPr>
        <p:spPr>
          <a:xfrm>
            <a:off x="8119872" y="1691640"/>
            <a:ext cx="713232" cy="256032"/>
          </a:xfrm>
          <a:prstGeom prst="rect">
            <a:avLst/>
          </a:prstGeom>
          <a:solidFill>
            <a:srgbClr val="DC2626"/>
          </a:solidFill>
          <a:ln/>
        </p:spPr>
      </p:sp>
      <p:sp>
        <p:nvSpPr>
          <p:cNvPr id="13" name="Text 11"/>
          <p:cNvSpPr/>
          <p:nvPr/>
        </p:nvSpPr>
        <p:spPr>
          <a:xfrm>
            <a:off x="8119872" y="1691640"/>
            <a:ext cx="713232"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HIGH</a:t>
            </a:r>
            <a:endParaRPr lang="en-US" sz="750" dirty="0"/>
          </a:p>
        </p:txBody>
      </p:sp>
      <p:sp>
        <p:nvSpPr>
          <p:cNvPr id="14" name="Text 12"/>
          <p:cNvSpPr/>
          <p:nvPr/>
        </p:nvSpPr>
        <p:spPr>
          <a:xfrm>
            <a:off x="530352" y="1563624"/>
            <a:ext cx="7406640" cy="237744"/>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2. Government Divestment / PSU Discount</a:t>
            </a:r>
            <a:endParaRPr lang="en-US" sz="1100" dirty="0"/>
          </a:p>
        </p:txBody>
      </p:sp>
      <p:sp>
        <p:nvSpPr>
          <p:cNvPr id="15" name="Text 13"/>
          <p:cNvSpPr/>
          <p:nvPr/>
        </p:nvSpPr>
        <p:spPr>
          <a:xfrm>
            <a:off x="530352" y="1837944"/>
            <a:ext cx="740664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India plans to divest ~INR 8,800 crore of CIL stake (supply overhang). As a PSU, CIL trades at a structural governance discount vs. private peers regardless of fundamentals.</a:t>
            </a:r>
            <a:endParaRPr lang="en-US" sz="950" dirty="0"/>
          </a:p>
        </p:txBody>
      </p:sp>
      <p:sp>
        <p:nvSpPr>
          <p:cNvPr id="16" name="Shape 14"/>
          <p:cNvSpPr/>
          <p:nvPr/>
        </p:nvSpPr>
        <p:spPr>
          <a:xfrm>
            <a:off x="274320" y="2359152"/>
            <a:ext cx="8595360" cy="786384"/>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7" name="Shape 15"/>
          <p:cNvSpPr/>
          <p:nvPr/>
        </p:nvSpPr>
        <p:spPr>
          <a:xfrm>
            <a:off x="274320" y="2359152"/>
            <a:ext cx="164592" cy="786384"/>
          </a:xfrm>
          <a:prstGeom prst="rect">
            <a:avLst/>
          </a:prstGeom>
          <a:solidFill>
            <a:srgbClr val="D97706"/>
          </a:solidFill>
          <a:ln/>
        </p:spPr>
      </p:sp>
      <p:sp>
        <p:nvSpPr>
          <p:cNvPr id="18" name="Shape 16"/>
          <p:cNvSpPr/>
          <p:nvPr/>
        </p:nvSpPr>
        <p:spPr>
          <a:xfrm>
            <a:off x="8119872" y="2560320"/>
            <a:ext cx="713232" cy="256032"/>
          </a:xfrm>
          <a:prstGeom prst="rect">
            <a:avLst/>
          </a:prstGeom>
          <a:solidFill>
            <a:srgbClr val="D97706"/>
          </a:solidFill>
          <a:ln/>
        </p:spPr>
      </p:sp>
      <p:sp>
        <p:nvSpPr>
          <p:cNvPr id="19" name="Text 17"/>
          <p:cNvSpPr/>
          <p:nvPr/>
        </p:nvSpPr>
        <p:spPr>
          <a:xfrm>
            <a:off x="8119872" y="2560320"/>
            <a:ext cx="713232"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MEDIUM</a:t>
            </a:r>
            <a:endParaRPr lang="en-US" sz="750" dirty="0"/>
          </a:p>
        </p:txBody>
      </p:sp>
      <p:sp>
        <p:nvSpPr>
          <p:cNvPr id="20" name="Text 18"/>
          <p:cNvSpPr/>
          <p:nvPr/>
        </p:nvSpPr>
        <p:spPr>
          <a:xfrm>
            <a:off x="530352" y="2432304"/>
            <a:ext cx="7406640" cy="237744"/>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3. E-Auction Price Compression</a:t>
            </a:r>
            <a:endParaRPr lang="en-US" sz="1100" dirty="0"/>
          </a:p>
        </p:txBody>
      </p:sp>
      <p:sp>
        <p:nvSpPr>
          <p:cNvPr id="21" name="Text 19"/>
          <p:cNvSpPr/>
          <p:nvPr/>
        </p:nvSpPr>
        <p:spPr>
          <a:xfrm>
            <a:off x="530352" y="2706624"/>
            <a:ext cx="740664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E-auction premiums (higher-margin sales) are compressing as global coal prices soften. FY2026 operating margin fell to 18.5% from 32.5% in FY2024 — margin pressure is real.</a:t>
            </a:r>
            <a:endParaRPr lang="en-US" sz="950" dirty="0"/>
          </a:p>
        </p:txBody>
      </p:sp>
      <p:sp>
        <p:nvSpPr>
          <p:cNvPr id="22" name="Shape 20"/>
          <p:cNvSpPr/>
          <p:nvPr/>
        </p:nvSpPr>
        <p:spPr>
          <a:xfrm>
            <a:off x="274320" y="3227832"/>
            <a:ext cx="8595360" cy="786384"/>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23" name="Shape 21"/>
          <p:cNvSpPr/>
          <p:nvPr/>
        </p:nvSpPr>
        <p:spPr>
          <a:xfrm>
            <a:off x="274320" y="3227832"/>
            <a:ext cx="164592" cy="786384"/>
          </a:xfrm>
          <a:prstGeom prst="rect">
            <a:avLst/>
          </a:prstGeom>
          <a:solidFill>
            <a:srgbClr val="D97706"/>
          </a:solidFill>
          <a:ln/>
        </p:spPr>
      </p:sp>
      <p:sp>
        <p:nvSpPr>
          <p:cNvPr id="24" name="Shape 22"/>
          <p:cNvSpPr/>
          <p:nvPr/>
        </p:nvSpPr>
        <p:spPr>
          <a:xfrm>
            <a:off x="8119872" y="3429000"/>
            <a:ext cx="713232" cy="256032"/>
          </a:xfrm>
          <a:prstGeom prst="rect">
            <a:avLst/>
          </a:prstGeom>
          <a:solidFill>
            <a:srgbClr val="D97706"/>
          </a:solidFill>
          <a:ln/>
        </p:spPr>
      </p:sp>
      <p:sp>
        <p:nvSpPr>
          <p:cNvPr id="25" name="Text 23"/>
          <p:cNvSpPr/>
          <p:nvPr/>
        </p:nvSpPr>
        <p:spPr>
          <a:xfrm>
            <a:off x="8119872" y="3429000"/>
            <a:ext cx="713232"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MEDIUM</a:t>
            </a:r>
            <a:endParaRPr lang="en-US" sz="750" dirty="0"/>
          </a:p>
        </p:txBody>
      </p:sp>
      <p:sp>
        <p:nvSpPr>
          <p:cNvPr id="26" name="Text 24"/>
          <p:cNvSpPr/>
          <p:nvPr/>
        </p:nvSpPr>
        <p:spPr>
          <a:xfrm>
            <a:off x="530352" y="3300984"/>
            <a:ext cx="7406640" cy="237744"/>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4. Wage &amp; Cost Inflation</a:t>
            </a:r>
            <a:endParaRPr lang="en-US" sz="1100" dirty="0"/>
          </a:p>
        </p:txBody>
      </p:sp>
      <p:sp>
        <p:nvSpPr>
          <p:cNvPr id="27" name="Text 25"/>
          <p:cNvSpPr/>
          <p:nvPr/>
        </p:nvSpPr>
        <p:spPr>
          <a:xfrm>
            <a:off x="530352" y="3575304"/>
            <a:ext cx="740664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240,000+ employees. Court-mandated pay hike added INR 1,458 crore one-time provision in FY2026. Structural wage inflation erodes fixed-cost leverage.</a:t>
            </a:r>
            <a:endParaRPr lang="en-US" sz="950" dirty="0"/>
          </a:p>
        </p:txBody>
      </p:sp>
      <p:sp>
        <p:nvSpPr>
          <p:cNvPr id="28" name="Shape 26"/>
          <p:cNvSpPr/>
          <p:nvPr/>
        </p:nvSpPr>
        <p:spPr>
          <a:xfrm>
            <a:off x="274320" y="4096512"/>
            <a:ext cx="8595360" cy="786384"/>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29" name="Shape 27"/>
          <p:cNvSpPr/>
          <p:nvPr/>
        </p:nvSpPr>
        <p:spPr>
          <a:xfrm>
            <a:off x="274320" y="4096512"/>
            <a:ext cx="164592" cy="786384"/>
          </a:xfrm>
          <a:prstGeom prst="rect">
            <a:avLst/>
          </a:prstGeom>
          <a:solidFill>
            <a:srgbClr val="059669"/>
          </a:solidFill>
          <a:ln/>
        </p:spPr>
      </p:sp>
      <p:sp>
        <p:nvSpPr>
          <p:cNvPr id="30" name="Shape 28"/>
          <p:cNvSpPr/>
          <p:nvPr/>
        </p:nvSpPr>
        <p:spPr>
          <a:xfrm>
            <a:off x="8119872" y="4297680"/>
            <a:ext cx="713232" cy="256032"/>
          </a:xfrm>
          <a:prstGeom prst="rect">
            <a:avLst/>
          </a:prstGeom>
          <a:solidFill>
            <a:srgbClr val="059669"/>
          </a:solidFill>
          <a:ln/>
        </p:spPr>
      </p:sp>
      <p:sp>
        <p:nvSpPr>
          <p:cNvPr id="31" name="Text 29"/>
          <p:cNvSpPr/>
          <p:nvPr/>
        </p:nvSpPr>
        <p:spPr>
          <a:xfrm>
            <a:off x="8119872" y="4297680"/>
            <a:ext cx="713232"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LOW</a:t>
            </a:r>
            <a:endParaRPr lang="en-US" sz="750" dirty="0"/>
          </a:p>
        </p:txBody>
      </p:sp>
      <p:sp>
        <p:nvSpPr>
          <p:cNvPr id="32" name="Text 30"/>
          <p:cNvSpPr/>
          <p:nvPr/>
        </p:nvSpPr>
        <p:spPr>
          <a:xfrm>
            <a:off x="530352" y="4169664"/>
            <a:ext cx="7406640" cy="237744"/>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5. Production Volume Shortfalls</a:t>
            </a:r>
            <a:endParaRPr lang="en-US" sz="1100" dirty="0"/>
          </a:p>
        </p:txBody>
      </p:sp>
      <p:sp>
        <p:nvSpPr>
          <p:cNvPr id="33" name="Text 31"/>
          <p:cNvSpPr/>
          <p:nvPr/>
        </p:nvSpPr>
        <p:spPr>
          <a:xfrm>
            <a:off x="530352" y="4443984"/>
            <a:ext cx="740664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CIL has historically missed production targets. If India's power demand disappoints or renewables scale faster, 810MT FY2028 guidance could be missed.</a:t>
            </a:r>
            <a:endParaRPr lang="en-US" sz="950" dirty="0"/>
          </a:p>
        </p:txBody>
      </p:sp>
      <p:sp>
        <p:nvSpPr>
          <p:cNvPr id="34" name="Text 32"/>
          <p:cNvSpPr/>
          <p:nvPr/>
        </p:nvSpPr>
        <p:spPr>
          <a:xfrm>
            <a:off x="8778240" y="4846320"/>
            <a:ext cx="274320" cy="182880"/>
          </a:xfrm>
          <a:prstGeom prst="rect">
            <a:avLst/>
          </a:prstGeom>
          <a:noFill/>
          <a:ln/>
        </p:spPr>
        <p:txBody>
          <a:bodyPr wrap="square" lIns="0" tIns="0" rIns="0" bIns="0" rtlCol="0" anchor="ctr"/>
          <a:lstStyle/>
          <a:p>
            <a:pPr algn="r" indent="0" marL="0">
              <a:buNone/>
            </a:pPr>
            <a:r>
              <a:rPr lang="en-US" sz="800" dirty="0">
                <a:solidFill>
                  <a:srgbClr val="64748B"/>
                </a:solidFill>
                <a:latin typeface="Calibri" pitchFamily="34" charset="0"/>
                <a:ea typeface="Calibri" pitchFamily="34" charset="-122"/>
                <a:cs typeface="Calibri"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4FF"/>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C2B5E"/>
          </a:solidFill>
          <a:ln/>
        </p:spPr>
      </p:sp>
      <p:sp>
        <p:nvSpPr>
          <p:cNvPr id="3" name="Text 1"/>
          <p:cNvSpPr/>
          <p:nvPr/>
        </p:nvSpPr>
        <p:spPr>
          <a:xfrm>
            <a:off x="365760" y="73152"/>
            <a:ext cx="841248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ANALYST CONSENSUS &amp; FINAL VERDICT</a:t>
            </a:r>
            <a:endParaRPr lang="en-US" sz="1300" dirty="0"/>
          </a:p>
        </p:txBody>
      </p:sp>
      <p:graphicFrame>
        <p:nvGraphicFramePr>
          <p:cNvPr id="4" name="Chart 0" descr=""/>
          <p:cNvGraphicFramePr/>
          <p:nvPr/>
        </p:nvGraphicFramePr>
        <p:xfrm>
          <a:off x="274320" y="640080"/>
          <a:ext cx="365760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206240" y="658368"/>
            <a:ext cx="4663440" cy="1188720"/>
          </a:xfrm>
          <a:prstGeom prst="rect">
            <a:avLst/>
          </a:prstGeom>
          <a:solidFill>
            <a:srgbClr val="1C2B5E"/>
          </a:solidFill>
          <a:ln/>
        </p:spPr>
      </p:sp>
      <p:sp>
        <p:nvSpPr>
          <p:cNvPr id="6" name="Text 3"/>
          <p:cNvSpPr/>
          <p:nvPr/>
        </p:nvSpPr>
        <p:spPr>
          <a:xfrm>
            <a:off x="4389120" y="749808"/>
            <a:ext cx="4297680" cy="228600"/>
          </a:xfrm>
          <a:prstGeom prst="rect">
            <a:avLst/>
          </a:prstGeom>
          <a:noFill/>
          <a:ln/>
        </p:spPr>
        <p:txBody>
          <a:bodyPr wrap="square" lIns="0" tIns="0" rIns="0" bIns="0" rtlCol="0" anchor="ctr"/>
          <a:lstStyle/>
          <a:p>
            <a:pPr indent="0" marL="0">
              <a:buNone/>
            </a:pPr>
            <a:r>
              <a:rPr lang="en-US" sz="950" b="1" spc="200" kern="0" dirty="0">
                <a:solidFill>
                  <a:srgbClr val="D97706"/>
                </a:solidFill>
                <a:latin typeface="Calibri" pitchFamily="34" charset="0"/>
                <a:ea typeface="Calibri" pitchFamily="34" charset="-122"/>
                <a:cs typeface="Calibri" pitchFamily="34" charset="-120"/>
              </a:rPr>
              <a:t>CONSENSUS: HOLD</a:t>
            </a:r>
            <a:endParaRPr lang="en-US" sz="950" dirty="0"/>
          </a:p>
        </p:txBody>
      </p:sp>
      <p:sp>
        <p:nvSpPr>
          <p:cNvPr id="7" name="Text 4"/>
          <p:cNvSpPr/>
          <p:nvPr/>
        </p:nvSpPr>
        <p:spPr>
          <a:xfrm>
            <a:off x="4389120" y="987552"/>
            <a:ext cx="4297680" cy="201168"/>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26 analysts  |  39% Bullish  |  35% Hold  |  24% Bearish</a:t>
            </a:r>
            <a:endParaRPr lang="en-US" sz="1000" dirty="0"/>
          </a:p>
        </p:txBody>
      </p:sp>
      <p:sp>
        <p:nvSpPr>
          <p:cNvPr id="8" name="Text 5"/>
          <p:cNvSpPr/>
          <p:nvPr/>
        </p:nvSpPr>
        <p:spPr>
          <a:xfrm>
            <a:off x="4389120" y="1188720"/>
            <a:ext cx="4297680" cy="201168"/>
          </a:xfrm>
          <a:prstGeom prst="rect">
            <a:avLst/>
          </a:prstGeom>
          <a:noFill/>
          <a:ln/>
        </p:spPr>
        <p:txBody>
          <a:bodyPr wrap="square" lIns="0" tIns="0" rIns="0" bIns="0" rtlCol="0" anchor="ctr"/>
          <a:lstStyle/>
          <a:p>
            <a:pPr indent="0" marL="0">
              <a:buNone/>
            </a:pPr>
            <a:r>
              <a:rPr lang="en-US" sz="1000" dirty="0">
                <a:solidFill>
                  <a:srgbClr val="D6E4FF"/>
                </a:solidFill>
                <a:latin typeface="Calibri" pitchFamily="34" charset="0"/>
                <a:ea typeface="Calibri" pitchFamily="34" charset="-122"/>
                <a:cs typeface="Calibri" pitchFamily="34" charset="-120"/>
              </a:rPr>
              <a:t>Mean target: INR 452  |  Range: INR 290 – INR 550</a:t>
            </a:r>
            <a:endParaRPr lang="en-US" sz="1000" dirty="0"/>
          </a:p>
        </p:txBody>
      </p:sp>
      <p:sp>
        <p:nvSpPr>
          <p:cNvPr id="9" name="Shape 6"/>
          <p:cNvSpPr/>
          <p:nvPr/>
        </p:nvSpPr>
        <p:spPr>
          <a:xfrm>
            <a:off x="4206240" y="1965960"/>
            <a:ext cx="4663440" cy="1883664"/>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0" name="Text 7"/>
          <p:cNvSpPr/>
          <p:nvPr/>
        </p:nvSpPr>
        <p:spPr>
          <a:xfrm>
            <a:off x="4389120" y="2066544"/>
            <a:ext cx="4297680" cy="219456"/>
          </a:xfrm>
          <a:prstGeom prst="rect">
            <a:avLst/>
          </a:prstGeom>
          <a:noFill/>
          <a:ln/>
        </p:spPr>
        <p:txBody>
          <a:bodyPr wrap="square" lIns="0" tIns="0" rIns="0" bIns="0" rtlCol="0" anchor="ctr"/>
          <a:lstStyle/>
          <a:p>
            <a:pPr indent="0" marL="0">
              <a:buNone/>
            </a:pPr>
            <a:r>
              <a:rPr lang="en-US" sz="1000" b="1" dirty="0">
                <a:solidFill>
                  <a:srgbClr val="D97706"/>
                </a:solidFill>
                <a:latin typeface="Calibri" pitchFamily="34" charset="0"/>
                <a:ea typeface="Calibri" pitchFamily="34" charset="-122"/>
                <a:cs typeface="Calibri" pitchFamily="34" charset="-120"/>
              </a:rPr>
              <a:t>FINAL VERDICT — WATCH</a:t>
            </a:r>
            <a:endParaRPr lang="en-US" sz="1000" dirty="0"/>
          </a:p>
        </p:txBody>
      </p:sp>
      <p:sp>
        <p:nvSpPr>
          <p:cNvPr id="11" name="Text 8"/>
          <p:cNvSpPr/>
          <p:nvPr/>
        </p:nvSpPr>
        <p:spPr>
          <a:xfrm>
            <a:off x="4389120" y="2322576"/>
            <a:ext cx="4389120" cy="1417320"/>
          </a:xfrm>
          <a:prstGeom prst="rect">
            <a:avLst/>
          </a:prstGeom>
          <a:noFill/>
          <a:ln/>
        </p:spPr>
        <p:txBody>
          <a:bodyPr wrap="square" lIns="0" tIns="0" rIns="0" bIns="0" rtlCol="0" anchor="ctr"/>
          <a:lstStyle/>
          <a:p>
            <a:pPr indent="0" marL="0">
              <a:buNone/>
            </a:pPr>
            <a:r>
              <a:rPr lang="en-US" sz="1050" dirty="0">
                <a:solidFill>
                  <a:srgbClr val="059669"/>
                </a:solidFill>
                <a:latin typeface="Calibri" pitchFamily="34" charset="0"/>
                <a:ea typeface="Calibri" pitchFamily="34" charset="-122"/>
                <a:cs typeface="Calibri" pitchFamily="34" charset="-120"/>
              </a:rPr>
              <a:t>✅  Pristine balance sheet — 0.1x ND/EBITDA, 35x interest coverage</a:t>
            </a:r>
            <a:endParaRPr lang="en-US" sz="1050" dirty="0"/>
          </a:p>
          <a:p>
            <a:pPr indent="0" marL="0">
              <a:buNone/>
            </a:pPr>
            <a:r>
              <a:rPr lang="en-US" sz="1050" dirty="0">
                <a:solidFill>
                  <a:srgbClr val="059669"/>
                </a:solidFill>
                <a:latin typeface="Calibri" pitchFamily="34" charset="0"/>
                <a:ea typeface="Calibri" pitchFamily="34" charset="-122"/>
                <a:cs typeface="Calibri" pitchFamily="34" charset="-120"/>
              </a:rPr>
              <a:t>✅  Exceptional ROCE (35.3%) and consistent dividend (5.7% yield)</a:t>
            </a:r>
            <a:endParaRPr lang="en-US" sz="1050" dirty="0"/>
          </a:p>
          <a:p>
            <a:pPr indent="0" marL="0">
              <a:buNone/>
            </a:pPr>
            <a:r>
              <a:rPr lang="en-US" sz="1050" dirty="0">
                <a:solidFill>
                  <a:srgbClr val="059669"/>
                </a:solidFill>
                <a:latin typeface="Calibri" pitchFamily="34" charset="0"/>
                <a:ea typeface="Calibri" pitchFamily="34" charset="-122"/>
                <a:cs typeface="Calibri" pitchFamily="34" charset="-120"/>
              </a:rPr>
              <a:t>✅  Ultra-cheap at 9x P/E — market pricing in decline too aggressively</a:t>
            </a:r>
            <a:endParaRPr lang="en-US" sz="1050" dirty="0"/>
          </a:p>
          <a:p>
            <a:pPr indent="0" marL="0">
              <a:buNone/>
            </a:pPr>
            <a:r>
              <a:rPr lang="en-US" sz="1050" dirty="0">
                <a:solidFill>
                  <a:srgbClr val="D97706"/>
                </a:solidFill>
                <a:latin typeface="Calibri" pitchFamily="34" charset="0"/>
                <a:ea typeface="Calibri" pitchFamily="34" charset="-122"/>
                <a:cs typeface="Calibri" pitchFamily="34" charset="-120"/>
              </a:rPr>
              <a:t>⚠️  Energy transition is real — India's renewables scaling fast</a:t>
            </a:r>
            <a:endParaRPr lang="en-US" sz="1050" dirty="0"/>
          </a:p>
          <a:p>
            <a:pPr indent="0" marL="0">
              <a:buNone/>
            </a:pPr>
            <a:r>
              <a:rPr lang="en-US" sz="1050" dirty="0">
                <a:solidFill>
                  <a:srgbClr val="D97706"/>
                </a:solidFill>
                <a:latin typeface="Calibri" pitchFamily="34" charset="0"/>
                <a:ea typeface="Calibri" pitchFamily="34" charset="-122"/>
                <a:cs typeface="Calibri" pitchFamily="34" charset="-120"/>
              </a:rPr>
              <a:t>⚠️  Buy at INR 380–430 for margin of safety. Hold 5–7 years max.</a:t>
            </a:r>
            <a:endParaRPr lang="en-US" sz="1050" dirty="0"/>
          </a:p>
        </p:txBody>
      </p:sp>
      <p:sp>
        <p:nvSpPr>
          <p:cNvPr id="12" name="Shape 9"/>
          <p:cNvSpPr/>
          <p:nvPr/>
        </p:nvSpPr>
        <p:spPr>
          <a:xfrm>
            <a:off x="274320" y="3977640"/>
            <a:ext cx="8595360" cy="896112"/>
          </a:xfrm>
          <a:prstGeom prst="rect">
            <a:avLst/>
          </a:prstGeom>
          <a:solidFill>
            <a:srgbClr val="1C2B5E"/>
          </a:solidFill>
          <a:ln/>
        </p:spPr>
      </p:sp>
      <p:sp>
        <p:nvSpPr>
          <p:cNvPr id="13" name="Text 10"/>
          <p:cNvSpPr/>
          <p:nvPr/>
        </p:nvSpPr>
        <p:spPr>
          <a:xfrm>
            <a:off x="457200" y="4078224"/>
            <a:ext cx="8321040" cy="658368"/>
          </a:xfrm>
          <a:prstGeom prst="rect">
            <a:avLst/>
          </a:prstGeom>
          <a:noFill/>
          <a:ln/>
        </p:spPr>
        <p:txBody>
          <a:bodyPr wrap="square" lIns="0" tIns="0" rIns="0" bIns="0" rtlCol="0" anchor="ctr"/>
          <a:lstStyle/>
          <a:p>
            <a:pPr indent="0" marL="0">
              <a:buNone/>
            </a:pPr>
            <a:r>
              <a:rPr lang="en-US" sz="1100" i="1" dirty="0">
                <a:solidFill>
                  <a:srgbClr val="FFFFFF"/>
                </a:solidFill>
                <a:latin typeface="Calibri" pitchFamily="34" charset="0"/>
                <a:ea typeface="Calibri" pitchFamily="34" charset="-122"/>
                <a:cs typeface="Calibri" pitchFamily="34" charset="-120"/>
              </a:rPr>
              <a:t>Coal India is a fantastic income vehicle for the next 5–7 years. It is not a 15-year compounder. Buy below INR 430 · Collect the 5.7% yield · Exit as India's renewable mix approaches 60%.</a:t>
            </a:r>
            <a:endParaRPr lang="en-US" sz="1100" dirty="0"/>
          </a:p>
        </p:txBody>
      </p:sp>
      <p:sp>
        <p:nvSpPr>
          <p:cNvPr id="14" name="Text 11"/>
          <p:cNvSpPr/>
          <p:nvPr/>
        </p:nvSpPr>
        <p:spPr>
          <a:xfrm>
            <a:off x="8778240" y="4846320"/>
            <a:ext cx="274320" cy="182880"/>
          </a:xfrm>
          <a:prstGeom prst="rect">
            <a:avLst/>
          </a:prstGeom>
          <a:noFill/>
          <a:ln/>
        </p:spPr>
        <p:txBody>
          <a:bodyPr wrap="square" lIns="0" tIns="0" rIns="0" bIns="0" rtlCol="0" anchor="ctr"/>
          <a:lstStyle/>
          <a:p>
            <a:pPr algn="r" indent="0" marL="0">
              <a:buNone/>
            </a:pPr>
            <a:r>
              <a:rPr lang="en-US" sz="800" dirty="0">
                <a:solidFill>
                  <a:srgbClr val="64748B"/>
                </a:solidFill>
                <a:latin typeface="Calibri" pitchFamily="34" charset="0"/>
                <a:ea typeface="Calibri" pitchFamily="34" charset="-122"/>
                <a:cs typeface="Calibri" pitchFamily="34" charset="-120"/>
              </a:rPr>
              <a:t>9</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COALINDIA — Investment Deep Dive</dc:title>
  <dc:subject>PptxGenJS Presentation</dc:subject>
  <dc:creator>Investment Research</dc:creator>
  <cp:lastModifiedBy>Investment Research</cp:lastModifiedBy>
  <cp:revision>1</cp:revision>
  <dcterms:created xsi:type="dcterms:W3CDTF">2026-05-12T04:18:38Z</dcterms:created>
  <dcterms:modified xsi:type="dcterms:W3CDTF">2026-05-12T04:18:38Z</dcterms:modified>
</cp:coreProperties>
</file>