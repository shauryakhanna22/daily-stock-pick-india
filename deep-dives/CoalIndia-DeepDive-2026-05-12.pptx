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00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COALINDIA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India Limited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993392"/>
            <a:ext cx="50292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1214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 ·  Energy / Mining  ·  Large Cap  ·  INR 2,874B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DEEP DIVE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779776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Prepared: May 12,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31272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Largest Coal Producer  ·  Maharatna PSU  ·  Ministry of Coal, Government of India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4754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Long-Term Investment Purposes Only · Not Financial Advice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858000" y="1691640"/>
            <a:ext cx="2011680" cy="1508760"/>
          </a:xfrm>
          <a:prstGeom prst="rect">
            <a:avLst/>
          </a:prstGeom>
          <a:solidFill>
            <a:srgbClr val="1C2B5E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8013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(NSE)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903720" y="19842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466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03720" y="2450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P/E: 9.2x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03720" y="26517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Yield: 5.7%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VERDICT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8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8321040" cy="1536192"/>
          </a:xfrm>
          <a:prstGeom prst="rect">
            <a:avLst/>
          </a:prstGeom>
          <a:solidFill>
            <a:srgbClr val="1C2B5E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56816"/>
            <a:ext cx="79095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India is the world's largest coal miner — a government monopoly with 35% ROCE, zero debt, and a 5.7% dividend yield at just 9x earnings. The valuation is cheap. But India's energy transition from coal to renewables is real and accelerating. This is an income vehicle with a 5–7 year runway, not a 15-year compounder. Buy at INR 380–430 for income; hold with a clear exit plan.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529584"/>
            <a:ext cx="2029968" cy="1005840"/>
          </a:xfrm>
          <a:prstGeom prst="rect">
            <a:avLst/>
          </a:prstGeom>
          <a:solidFill>
            <a:srgbClr val="1C2B5E"/>
          </a:solidFill>
          <a:ln w="6350">
            <a:solidFill>
              <a:srgbClr val="D6E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36027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2648" y="37947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466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97480" y="3529584"/>
            <a:ext cx="2029968" cy="1005840"/>
          </a:xfrm>
          <a:prstGeom prst="rect">
            <a:avLst/>
          </a:prstGeom>
          <a:solidFill>
            <a:srgbClr val="1C2B5E"/>
          </a:solidFill>
          <a:ln w="6350">
            <a:solidFill>
              <a:srgbClr val="D6E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07208" y="36027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Value (Base)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807208" y="37947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685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92040" y="3529584"/>
            <a:ext cx="2029968" cy="1005840"/>
          </a:xfrm>
          <a:prstGeom prst="rect">
            <a:avLst/>
          </a:prstGeom>
          <a:solidFill>
            <a:srgbClr val="1C2B5E"/>
          </a:solidFill>
          <a:ln w="6350">
            <a:solidFill>
              <a:srgbClr val="D6E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36027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Range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01768" y="37947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380–430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086600" y="3529584"/>
            <a:ext cx="2029968" cy="1005840"/>
          </a:xfrm>
          <a:prstGeom prst="rect">
            <a:avLst/>
          </a:prstGeom>
          <a:solidFill>
            <a:srgbClr val="1C2B5E"/>
          </a:solidFill>
          <a:ln w="6350">
            <a:solidFill>
              <a:srgbClr val="D6E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96328" y="36027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96328" y="37947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 — COALINDIA: Coal India Limited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53035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680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India Limited (CIL) is the world's largest coal producer, a Government of India Maharatna PSU producing ~700MT annually across 83 mines in 8 subsidiaries. ~80% of offtake goes to thermal power plants at regulated prices; the balance via e-auction at market rates. Revenue is INR 1,68,400 crore (FY2026). No private competitor can displace it — but India's renewable energy ambitions are the structural long-term risk.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3090672"/>
            <a:ext cx="5303520" cy="173736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004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45643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Monopoly + Irreplaceable Infrastructure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— but structurally time-limited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70448" y="658368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77724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(FY2026)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35040" y="9692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1,684B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35040" y="131673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YoY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534656" y="658368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99248" y="77724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699248" y="9692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99248" y="131673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870448" y="1709928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18288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35040" y="202082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35040" y="236829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(down from 32.5%)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534656" y="1709928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99248" y="18288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699248" y="202082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99248" y="236829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870448" y="2761488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35040" y="288036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035040" y="307238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035040" y="341985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15.5/share FY2026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534656" y="2761488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99248" y="288036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Target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699248" y="307238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810 MT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699248" y="341985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FY2028 (5% CAGR)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QUALITY — Are the numbers real and repeatable?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94360"/>
            <a:ext cx="4297680" cy="23317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594360"/>
            <a:ext cx="4297680" cy="2331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56032" y="3035808"/>
            <a:ext cx="201168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329184" y="308152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329184" y="325526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FCF/NI: 0.64x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432304" y="3035808"/>
            <a:ext cx="201168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2505456" y="308152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2505456" y="325526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FCF/NI: 0.03x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608576" y="3035808"/>
            <a:ext cx="201168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681728" y="308152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681728" y="325526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FCF/NI: 0.45x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784848" y="3035808"/>
            <a:ext cx="201168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858000" y="308152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858000" y="325526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FCF/NI: 0.99x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56032" y="391363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FCF/NI  &gt;0.9x = High Quality  ·  0.6–0.9x = Moderate  ·  &lt;0.6x = Red Flag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256032" y="4151376"/>
            <a:ext cx="8631936" cy="658368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20" name="Text 16"/>
          <p:cNvSpPr/>
          <p:nvPr/>
        </p:nvSpPr>
        <p:spPr>
          <a:xfrm>
            <a:off x="420624" y="422452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FY2026 one-time item: INR 1,458Cr court-mandated executive wage provision (arrears Aug 2023–Dec 2025) — depressed reported PAT. Underlying earnings are higher.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&amp; MANAGEMENT — Profitability trend and stewardship quality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4360"/>
            <a:ext cx="502920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59552" y="658368"/>
            <a:ext cx="15727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24144" y="77724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 (Govt)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24144" y="9692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63.1%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724144" y="131673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pledged — no stress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251192" y="658368"/>
            <a:ext cx="15727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15784" y="77724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Payout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415784" y="9692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45.1%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415784" y="131673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15.5/sh FY2026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559552" y="1737360"/>
            <a:ext cx="15727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24144" y="185623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Divestment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724144" y="204825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8,800Cr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724144" y="239572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— supply overhang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251192" y="1737360"/>
            <a:ext cx="15727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15784" y="185623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415784" y="204825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415784" y="239572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for mining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559552" y="2816352"/>
            <a:ext cx="3310128" cy="107899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22" name="Text 19"/>
          <p:cNvSpPr/>
          <p:nvPr/>
        </p:nvSpPr>
        <p:spPr>
          <a:xfrm>
            <a:off x="5687568" y="29077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ALLOCATION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687568" y="31272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high dividends every year. 45.1% payout. Self-funds all capex from OCF. Zero M&amp;A risk. Pure income compounder.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56032" y="342900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20624" y="35478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Debt/EBITDA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20624" y="37398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0.1x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20624" y="40873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&lt;2x ✅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3200400" y="342900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3364992" y="35478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364992" y="37398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35.5x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364992" y="40873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&gt;5x ✅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144768" y="342900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309360" y="35478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Goodwill/Assets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309360" y="37398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~0%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6309360" y="40873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M&amp;A risk ✅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— The energy transition is the existential question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859536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21792"/>
            <a:ext cx="164592" cy="7863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8119872" y="822960"/>
            <a:ext cx="713232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8119872" y="822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30352" y="694944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Energy Transition — Renewable Displacement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96926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renewables scaling 15%+ annually. New coal power already costlier than firm renewables. By FY2031, coal tariffs ~25% more expensive than solar+wind. This is the 10-year existential risk.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490472"/>
            <a:ext cx="859536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90472"/>
            <a:ext cx="164592" cy="7863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Shape 10"/>
          <p:cNvSpPr/>
          <p:nvPr/>
        </p:nvSpPr>
        <p:spPr>
          <a:xfrm>
            <a:off x="8119872" y="1691640"/>
            <a:ext cx="713232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8119872" y="16916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30352" y="1563624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Government Divestment / PSU Discount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183794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8,800Cr planned stake sale creates supply overhang. PSU governance discount (no independent management, ministry directives) depresses valuation permanently vs. private peers.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59152"/>
            <a:ext cx="859536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359152"/>
            <a:ext cx="164592" cy="7863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6"/>
          <p:cNvSpPr/>
          <p:nvPr/>
        </p:nvSpPr>
        <p:spPr>
          <a:xfrm>
            <a:off x="8119872" y="2560320"/>
            <a:ext cx="713232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8119872" y="2560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0352" y="2432304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E-Auction Price Compression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270662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E-auction premiums compressing as global coal prices soften. Operating margin fell from 32.5% (FY2024) to 18.5% (FY2026) — this trend could continue if global prices stay soft.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227832"/>
            <a:ext cx="859536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27832"/>
            <a:ext cx="164592" cy="7863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Shape 22"/>
          <p:cNvSpPr/>
          <p:nvPr/>
        </p:nvSpPr>
        <p:spPr>
          <a:xfrm>
            <a:off x="8119872" y="3429000"/>
            <a:ext cx="713232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8119872" y="34290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30352" y="3300984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Wage &amp; Cost Inflation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" y="357530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240,000+ employees. Court-mandated FY2026 pay hike added INR 1,458Cr. Structural wage inflation partially outside management control — erodes fixed-cost leverage.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096512"/>
            <a:ext cx="859536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096512"/>
            <a:ext cx="164592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Shape 28"/>
          <p:cNvSpPr/>
          <p:nvPr/>
        </p:nvSpPr>
        <p:spPr>
          <a:xfrm>
            <a:off x="8119872" y="4297680"/>
            <a:ext cx="713232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8119872" y="42976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30352" y="4169664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Production Volume Shortfalls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" y="444398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 has historically missed production targets. 810MT FY2028 guidance requires sustained 5% volume CAGR. If power demand disappoints or renewables scale faster, this risks a miss.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— Cheap for a reason, but asymmetric risk/reward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4360"/>
            <a:ext cx="45720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10912" y="658368"/>
            <a:ext cx="1335024" cy="2907792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10912" y="658368"/>
            <a:ext cx="1335024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4"/>
          <p:cNvSpPr/>
          <p:nvPr/>
        </p:nvSpPr>
        <p:spPr>
          <a:xfrm>
            <a:off x="5047488" y="67665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47488" y="10789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CAGR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047488" y="12435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–2% CAGR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47488" y="162763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VALUE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047488" y="179222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388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47488" y="223113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047488" y="23957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–17%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28232" y="658368"/>
            <a:ext cx="1335024" cy="2907792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28232" y="658368"/>
            <a:ext cx="1335024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3"/>
          <p:cNvSpPr/>
          <p:nvPr/>
        </p:nvSpPr>
        <p:spPr>
          <a:xfrm>
            <a:off x="6464808" y="67665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64808" y="10789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CAGR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464808" y="12435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CAGR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64808" y="162763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VALUE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464808" y="179222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685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64808" y="223113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464808" y="23957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+47%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845552" y="658368"/>
            <a:ext cx="1335024" cy="2907792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845552" y="658368"/>
            <a:ext cx="1335024" cy="3291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2"/>
          <p:cNvSpPr/>
          <p:nvPr/>
        </p:nvSpPr>
        <p:spPr>
          <a:xfrm>
            <a:off x="7882128" y="67665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882128" y="10789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CAGR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882128" y="12435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 CAGR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882128" y="162763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VALUE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882128" y="179222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1,061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882128" y="223113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882128" y="23957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+127%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3694176"/>
          <a:ext cx="8650224" cy="1188720"/>
        </p:xfrm>
        <a:graphic>
          <a:graphicData uri="http://schemas.openxmlformats.org/drawingml/2006/table">
            <a:tbl>
              <a:tblPr/>
              <a:tblGrid>
                <a:gridCol w="2162556"/>
                <a:gridCol w="2162556"/>
                <a:gridCol w="2162556"/>
                <a:gridCol w="2162556"/>
              </a:tblGrid>
              <a:tr h="198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Current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5-Yr Avg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PSU Avg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Trailing P/E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9.2x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11x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Forward P/E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8.1x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EV/EBITDA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6.0x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FCF Yield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10.7%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~5%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Dividend Yield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5.7%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~5%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~4%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 29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CONSENSUS &amp; FINAL VERDICT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4360"/>
            <a:ext cx="411480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26280" y="658368"/>
            <a:ext cx="4343400" cy="117043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6" name="Text 3"/>
          <p:cNvSpPr/>
          <p:nvPr/>
        </p:nvSpPr>
        <p:spPr>
          <a:xfrm>
            <a:off x="4663440" y="7498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CONSENSUS: HOLD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663440" y="9875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analysts  ·  39% Bullish  ·  35% Hold  ·  24% Bearish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663440" y="11887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target: INR 452  ·  Range: INR 290 – INR 550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26280" y="1938528"/>
            <a:ext cx="43434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63440" y="20299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 — WATCH ⚠️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663440" y="22860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0.1x ND/EBITDA — pristine balance sheet, no financial risk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35.3% ROCE + 5.7% dividend yield — exceptional income asset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9x P/E — market pricing in decline too aggressively near-term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Energy transition risk is real — India renewables scaling fast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Buy INR 380–430 · Collect yield · Hold 5–7 yrs · Exit plan needed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6032" y="4023360"/>
            <a:ext cx="8631936" cy="86868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13" name="Text 10"/>
          <p:cNvSpPr/>
          <p:nvPr/>
        </p:nvSpPr>
        <p:spPr>
          <a:xfrm>
            <a:off x="420624" y="41148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India is a fantastic income vehicle for the next 5–7 years. Not a 15-year compounder. Buy below INR 430 · Collect the 5.7% annual yield · Exit as India's renewable mix approaches 60% of power generation.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COALINDIA — Investment Deep Dive</dc:title>
  <dc:subject>PptxGenJS Presentation</dc:subject>
  <dc:creator>PptxGenJS</dc:creator>
  <cp:lastModifiedBy>PptxGenJS</cp:lastModifiedBy>
  <cp:revision>1</cp:revision>
  <dcterms:created xsi:type="dcterms:W3CDTF">2026-05-12T04:29:26Z</dcterms:created>
  <dcterms:modified xsi:type="dcterms:W3CDTF">2026-05-12T04:29:26Z</dcterms:modified>
</cp:coreProperties>
</file>